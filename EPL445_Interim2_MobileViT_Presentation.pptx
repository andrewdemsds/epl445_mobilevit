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88825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7947781-0DD2-4209-9BF6-F976F0B330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7159EB3-D150-4A4E-9EE8-1A58F134E6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BFBFBDC-81E9-442A-9139-5698CD03E8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4E2AB4-518D-40E5-9E8B-389E9BEB12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r title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07AEC86-3119-4CC3-9C41-1A94699DEB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E76A591-ACA7-4FC5-9874-B8D6AD2885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1E85488-B1DF-4FA8-8E97-F92773BD4C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1FB09F-0702-4088-BDC4-0962C56F15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CD97BD-E492-47E2-B9A1-0BAA84C051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8E9FC86-9F57-4F04-B3AA-51EE3168D9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163ECA-39D8-48E2-B4D0-248C8528C3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5303520"/>
            <a:ext cx="12188520" cy="7272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731520" y="1097280"/>
            <a:ext cx="10515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MobileViT-Based Traffic Analysis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731520" y="214884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200" b="0" u="none" strike="noStrike">
                <a:solidFill>
                  <a:srgbClr val="008BD0"/>
                </a:solidFill>
                <a:effectLst/>
                <a:uFillTx/>
                <a:latin typeface="Calibri"/>
              </a:rPr>
              <a:t>for Digital Twin Optimization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1371600" y="2971800"/>
            <a:ext cx="9143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Interim Presentation #2  —  First Runs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6"/>
          <p:cNvSpPr/>
          <p:nvPr/>
        </p:nvSpPr>
        <p:spPr>
          <a:xfrm>
            <a:off x="3200400" y="3566160"/>
            <a:ext cx="5760360" cy="2520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914400" y="3794760"/>
            <a:ext cx="10240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Andreas Demosthenous  &amp;  Marios Olymbios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914400" y="4251960"/>
            <a:ext cx="10240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8BD0"/>
                </a:solidFill>
                <a:effectLst/>
                <a:uFillTx/>
                <a:latin typeface="Calibri"/>
              </a:rPr>
              <a:t>EPL 445 – Digital Video Processing  |  University of Cyprus  |  April 23, 2026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0" y="6400800"/>
            <a:ext cx="1218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EPL 445 – Digital Video Processing  |  University of Cyprus, Spring 2026  |  Slide 1/8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10"/>
          <p:cNvSpPr/>
          <p:nvPr/>
        </p:nvSpPr>
        <p:spPr>
          <a:xfrm>
            <a:off x="0" y="6355080"/>
            <a:ext cx="12188520" cy="1872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2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Agenda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"/>
          <p:cNvSpPr/>
          <p:nvPr/>
        </p:nvSpPr>
        <p:spPr>
          <a:xfrm>
            <a:off x="1371600" y="1371600"/>
            <a:ext cx="91436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1.  Project Recap &amp; Goals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"/>
          <p:cNvSpPr/>
          <p:nvPr/>
        </p:nvSpPr>
        <p:spPr>
          <a:xfrm>
            <a:off x="1371600" y="2011680"/>
            <a:ext cx="91436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2.  Dataset &amp; Training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5"/>
          <p:cNvSpPr/>
          <p:nvPr/>
        </p:nvSpPr>
        <p:spPr>
          <a:xfrm>
            <a:off x="1371600" y="2651760"/>
            <a:ext cx="91436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3.  Performance Metrics (Test Set)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6"/>
          <p:cNvSpPr/>
          <p:nvPr/>
        </p:nvSpPr>
        <p:spPr>
          <a:xfrm>
            <a:off x="1371600" y="3291840"/>
            <a:ext cx="91436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4.  Training Curves &amp; Visualizations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7"/>
          <p:cNvSpPr/>
          <p:nvPr/>
        </p:nvSpPr>
        <p:spPr>
          <a:xfrm>
            <a:off x="1371600" y="3931920"/>
            <a:ext cx="91436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5.  Video Inference Pipeline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8"/>
          <p:cNvSpPr/>
          <p:nvPr/>
        </p:nvSpPr>
        <p:spPr>
          <a:xfrm>
            <a:off x="1371600" y="4572000"/>
            <a:ext cx="91436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6.  Next Steps — Final Presentation (25 May 2026)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9"/>
          <p:cNvSpPr/>
          <p:nvPr/>
        </p:nvSpPr>
        <p:spPr>
          <a:xfrm>
            <a:off x="0" y="6400800"/>
            <a:ext cx="1218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EPL 445 – Digital Video Processing  |  University of Cyprus, Spring 2026  |  Slide 2/8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10"/>
          <p:cNvSpPr/>
          <p:nvPr/>
        </p:nvSpPr>
        <p:spPr>
          <a:xfrm>
            <a:off x="0" y="6355080"/>
            <a:ext cx="12188520" cy="1872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Project Recap &amp; Interim 2 Goals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274320" y="868680"/>
            <a:ext cx="118868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8BD0"/>
                </a:solidFill>
                <a:effectLst/>
                <a:uFillTx/>
                <a:latin typeface="Calibri"/>
              </a:rPr>
              <a:t>  Topic: Mobile Video Processing &amp; Analysis  (EPL 445, Topic #1)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4"/>
          <p:cNvSpPr/>
          <p:nvPr/>
        </p:nvSpPr>
        <p:spPr>
          <a:xfrm>
            <a:off x="365760" y="1417320"/>
            <a:ext cx="11338200" cy="7768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502920" y="1468080"/>
            <a:ext cx="2559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Scientific Goal: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6"/>
          <p:cNvSpPr/>
          <p:nvPr/>
        </p:nvSpPr>
        <p:spPr>
          <a:xfrm>
            <a:off x="3063240" y="1468080"/>
            <a:ext cx="8503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Intelligent auto-interpretation of traffic video to support city Digital Twin systems via vehicle detection and density estimation.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7"/>
          <p:cNvSpPr/>
          <p:nvPr/>
        </p:nvSpPr>
        <p:spPr>
          <a:xfrm>
            <a:off x="365760" y="2331720"/>
            <a:ext cx="11338200" cy="7768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8"/>
          <p:cNvSpPr/>
          <p:nvPr/>
        </p:nvSpPr>
        <p:spPr>
          <a:xfrm>
            <a:off x="502920" y="2382480"/>
            <a:ext cx="2559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Interim 2 Objective: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9"/>
          <p:cNvSpPr/>
          <p:nvPr/>
        </p:nvSpPr>
        <p:spPr>
          <a:xfrm>
            <a:off x="3063240" y="2382480"/>
            <a:ext cx="8503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FIRST RUNS — demonstrate a working, end-to-end pipeline using lightweight models on video frames; verify all metrics on a held-out test set.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10"/>
          <p:cNvSpPr/>
          <p:nvPr/>
        </p:nvSpPr>
        <p:spPr>
          <a:xfrm>
            <a:off x="365760" y="3246120"/>
            <a:ext cx="11338200" cy="7768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11"/>
          <p:cNvSpPr/>
          <p:nvPr/>
        </p:nvSpPr>
        <p:spPr>
          <a:xfrm>
            <a:off x="502920" y="3296880"/>
            <a:ext cx="2559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Why MobileViT?: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2"/>
          <p:cNvSpPr/>
          <p:nvPr/>
        </p:nvSpPr>
        <p:spPr>
          <a:xfrm>
            <a:off x="3063240" y="3296880"/>
            <a:ext cx="8503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Light-weight Vision Transformer (ICLR 2022). Balances accuracy and efficiency — designed for mobile/edge deployment.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13"/>
          <p:cNvSpPr/>
          <p:nvPr/>
        </p:nvSpPr>
        <p:spPr>
          <a:xfrm>
            <a:off x="365760" y="4160520"/>
            <a:ext cx="11338200" cy="7768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4"/>
          <p:cNvSpPr/>
          <p:nvPr/>
        </p:nvSpPr>
        <p:spPr>
          <a:xfrm>
            <a:off x="502920" y="4211280"/>
            <a:ext cx="2559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Methodological Rigour: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5"/>
          <p:cNvSpPr/>
          <p:nvPr/>
        </p:nvSpPr>
        <p:spPr>
          <a:xfrm>
            <a:off x="3063240" y="4211280"/>
            <a:ext cx="8503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We identified and corrected a sequence-level data-leakage issue, retrained on clean splits — results below are honest.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6"/>
          <p:cNvSpPr/>
          <p:nvPr/>
        </p:nvSpPr>
        <p:spPr>
          <a:xfrm>
            <a:off x="0" y="6400800"/>
            <a:ext cx="1218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EPL 445 – Digital Video Processing  |  University of Cyprus, Spring 2026  |  Slide 3/8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17"/>
          <p:cNvSpPr/>
          <p:nvPr/>
        </p:nvSpPr>
        <p:spPr>
          <a:xfrm>
            <a:off x="0" y="6355080"/>
            <a:ext cx="12188520" cy="1872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2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Dataset &amp; Training Setup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3"/>
          <p:cNvSpPr/>
          <p:nvPr/>
        </p:nvSpPr>
        <p:spPr>
          <a:xfrm>
            <a:off x="274320" y="1371600"/>
            <a:ext cx="5303160" cy="4754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A7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4"/>
          <p:cNvSpPr/>
          <p:nvPr/>
        </p:nvSpPr>
        <p:spPr>
          <a:xfrm>
            <a:off x="502920" y="146304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Dataset: UA-DETRAC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5"/>
          <p:cNvSpPr/>
          <p:nvPr/>
        </p:nvSpPr>
        <p:spPr>
          <a:xfrm>
            <a:off x="548640" y="192024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Source: Wen et al., 2020 — urban surveillance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548640" y="222192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4 classes: car | bus | truck | background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7"/>
          <p:cNvSpPr/>
          <p:nvPr/>
        </p:nvSpPr>
        <p:spPr>
          <a:xfrm>
            <a:off x="548640" y="25236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100 video sequences 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8"/>
          <p:cNvSpPr/>
          <p:nvPr/>
        </p:nvSpPr>
        <p:spPr>
          <a:xfrm>
            <a:off x="548640" y="282564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Sequence-level split (no leakage)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9"/>
          <p:cNvSpPr/>
          <p:nvPr/>
        </p:nvSpPr>
        <p:spPr>
          <a:xfrm>
            <a:off x="548640" y="312732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Train  — 69 sequences,  6,827 patches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548640" y="34290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Val    — 15 sequences,    928 patches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548640" y="373068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Test   — 16 sequences,  2,614 patches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2"/>
          <p:cNvSpPr/>
          <p:nvPr/>
        </p:nvSpPr>
        <p:spPr>
          <a:xfrm>
            <a:off x="548640" y="403236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Crops &lt; 64 px filtered to avoid upscale artefacts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3"/>
          <p:cNvSpPr/>
          <p:nvPr/>
        </p:nvSpPr>
        <p:spPr>
          <a:xfrm>
            <a:off x="548640" y="43344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Image size: 256 × 256 input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4"/>
          <p:cNvSpPr/>
          <p:nvPr/>
        </p:nvSpPr>
        <p:spPr>
          <a:xfrm>
            <a:off x="548640" y="463608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Augmentation: random flip, rotation, colour jitter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15"/>
          <p:cNvSpPr/>
          <p:nvPr/>
        </p:nvSpPr>
        <p:spPr>
          <a:xfrm>
            <a:off x="6035040" y="1371600"/>
            <a:ext cx="5851800" cy="4754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B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16"/>
          <p:cNvSpPr/>
          <p:nvPr/>
        </p:nvSpPr>
        <p:spPr>
          <a:xfrm>
            <a:off x="6263640" y="1463040"/>
            <a:ext cx="5394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Training Strategy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7"/>
          <p:cNvSpPr/>
          <p:nvPr/>
        </p:nvSpPr>
        <p:spPr>
          <a:xfrm>
            <a:off x="6263640" y="192024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Staged Fine-Tuning (15 epochs)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8"/>
          <p:cNvSpPr/>
          <p:nvPr/>
        </p:nvSpPr>
        <p:spPr>
          <a:xfrm>
            <a:off x="6263640" y="225864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Epochs 1–3:  Backbone frozen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9"/>
          <p:cNvSpPr/>
          <p:nvPr/>
        </p:nvSpPr>
        <p:spPr>
          <a:xfrm>
            <a:off x="6263640" y="259704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      Only classifier head trains (lr = 3e-4)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20"/>
          <p:cNvSpPr/>
          <p:nvPr/>
        </p:nvSpPr>
        <p:spPr>
          <a:xfrm>
            <a:off x="6263640" y="293508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Epochs 4–15:  Full model unfrozen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21"/>
          <p:cNvSpPr/>
          <p:nvPr/>
        </p:nvSpPr>
        <p:spPr>
          <a:xfrm>
            <a:off x="6263640" y="327348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         End-to-end fine-tuning (lr = 3e-5)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22"/>
          <p:cNvSpPr/>
          <p:nvPr/>
        </p:nvSpPr>
        <p:spPr>
          <a:xfrm>
            <a:off x="6263640" y="361188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Optimizer: AdamW  |  Scheduler: CosineAnnealingLR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23"/>
          <p:cNvSpPr/>
          <p:nvPr/>
        </p:nvSpPr>
        <p:spPr>
          <a:xfrm>
            <a:off x="6263640" y="395028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Loss: Class-weighted Cross-Entropy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24"/>
          <p:cNvSpPr/>
          <p:nvPr/>
        </p:nvSpPr>
        <p:spPr>
          <a:xfrm>
            <a:off x="6263640" y="428868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Hardware: AMD Radeon 780M (ROCm 7.2)  | bs=4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25"/>
          <p:cNvSpPr/>
          <p:nvPr/>
        </p:nvSpPr>
        <p:spPr>
          <a:xfrm>
            <a:off x="6263640" y="462672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Best checkpoint chosen by val macro-F1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26"/>
          <p:cNvSpPr/>
          <p:nvPr/>
        </p:nvSpPr>
        <p:spPr>
          <a:xfrm>
            <a:off x="6263640" y="4965120"/>
            <a:ext cx="5486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Best val macro-F1: 94.04%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7"/>
          <p:cNvSpPr/>
          <p:nvPr/>
        </p:nvSpPr>
        <p:spPr>
          <a:xfrm>
            <a:off x="0" y="6400800"/>
            <a:ext cx="1218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EPL 445 – Digital Video Processing  |  University of Cyprus, Spring 2026  |  Slide 4/8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28"/>
          <p:cNvSpPr/>
          <p:nvPr/>
        </p:nvSpPr>
        <p:spPr>
          <a:xfrm>
            <a:off x="0" y="6355080"/>
            <a:ext cx="12188520" cy="1872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Performance Metrics — Test Set  (n = 2,614)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3"/>
          <p:cNvSpPr/>
          <p:nvPr/>
        </p:nvSpPr>
        <p:spPr>
          <a:xfrm>
            <a:off x="274320" y="868680"/>
            <a:ext cx="1188684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8BD0"/>
                </a:solidFill>
                <a:effectLst/>
                <a:uFillTx/>
                <a:latin typeface="Calibri"/>
              </a:rPr>
              <a:t>  Metrics on held-out, sequence-level test set as required by Interim #2 brief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4"/>
          <p:cNvSpPr/>
          <p:nvPr/>
        </p:nvSpPr>
        <p:spPr>
          <a:xfrm>
            <a:off x="228600" y="1417320"/>
            <a:ext cx="2194200" cy="95976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5"/>
          <p:cNvSpPr/>
          <p:nvPr/>
        </p:nvSpPr>
        <p:spPr>
          <a:xfrm>
            <a:off x="330120" y="1518840"/>
            <a:ext cx="199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Accuracy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6"/>
          <p:cNvSpPr/>
          <p:nvPr/>
        </p:nvSpPr>
        <p:spPr>
          <a:xfrm>
            <a:off x="279360" y="1710000"/>
            <a:ext cx="209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96.44%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7"/>
          <p:cNvSpPr/>
          <p:nvPr/>
        </p:nvSpPr>
        <p:spPr>
          <a:xfrm>
            <a:off x="2587680" y="1417320"/>
            <a:ext cx="2194200" cy="95976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8"/>
          <p:cNvSpPr/>
          <p:nvPr/>
        </p:nvSpPr>
        <p:spPr>
          <a:xfrm>
            <a:off x="2689200" y="1518840"/>
            <a:ext cx="199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Macro F1-Score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9"/>
          <p:cNvSpPr/>
          <p:nvPr/>
        </p:nvSpPr>
        <p:spPr>
          <a:xfrm>
            <a:off x="2638440" y="1710000"/>
            <a:ext cx="209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95.90%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10"/>
          <p:cNvSpPr/>
          <p:nvPr/>
        </p:nvSpPr>
        <p:spPr>
          <a:xfrm>
            <a:off x="4946760" y="1417320"/>
            <a:ext cx="2194200" cy="959760"/>
          </a:xfrm>
          <a:prstGeom prst="rect">
            <a:avLst/>
          </a:prstGeom>
          <a:solidFill>
            <a:srgbClr val="1A6A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11"/>
          <p:cNvSpPr/>
          <p:nvPr/>
        </p:nvSpPr>
        <p:spPr>
          <a:xfrm>
            <a:off x="5048640" y="1518840"/>
            <a:ext cx="199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Macro Precision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2"/>
          <p:cNvSpPr/>
          <p:nvPr/>
        </p:nvSpPr>
        <p:spPr>
          <a:xfrm>
            <a:off x="4997880" y="1710000"/>
            <a:ext cx="209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95.69%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13"/>
          <p:cNvSpPr/>
          <p:nvPr/>
        </p:nvSpPr>
        <p:spPr>
          <a:xfrm>
            <a:off x="7306200" y="1417320"/>
            <a:ext cx="2194200" cy="959760"/>
          </a:xfrm>
          <a:prstGeom prst="rect">
            <a:avLst/>
          </a:prstGeom>
          <a:solidFill>
            <a:srgbClr val="13748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14"/>
          <p:cNvSpPr/>
          <p:nvPr/>
        </p:nvSpPr>
        <p:spPr>
          <a:xfrm>
            <a:off x="7407720" y="1518840"/>
            <a:ext cx="199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Macro Recall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5"/>
          <p:cNvSpPr/>
          <p:nvPr/>
        </p:nvSpPr>
        <p:spPr>
          <a:xfrm>
            <a:off x="7356960" y="1710000"/>
            <a:ext cx="209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96.15%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16"/>
          <p:cNvSpPr/>
          <p:nvPr/>
        </p:nvSpPr>
        <p:spPr>
          <a:xfrm>
            <a:off x="9665280" y="1417320"/>
            <a:ext cx="2194200" cy="959760"/>
          </a:xfrm>
          <a:prstGeom prst="rect">
            <a:avLst/>
          </a:prstGeom>
          <a:solidFill>
            <a:srgbClr val="1A8A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17"/>
          <p:cNvSpPr/>
          <p:nvPr/>
        </p:nvSpPr>
        <p:spPr>
          <a:xfrm>
            <a:off x="9766800" y="1518840"/>
            <a:ext cx="199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Macro AUC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18"/>
          <p:cNvSpPr/>
          <p:nvPr/>
        </p:nvSpPr>
        <p:spPr>
          <a:xfrm>
            <a:off x="9716040" y="1710000"/>
            <a:ext cx="209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99.59%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9"/>
          <p:cNvSpPr/>
          <p:nvPr/>
        </p:nvSpPr>
        <p:spPr>
          <a:xfrm>
            <a:off x="320040" y="2606040"/>
            <a:ext cx="11429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Per-Class Results (Test Set)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Rectangle 20"/>
          <p:cNvSpPr/>
          <p:nvPr/>
        </p:nvSpPr>
        <p:spPr>
          <a:xfrm>
            <a:off x="320040" y="2999160"/>
            <a:ext cx="1462680" cy="3286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21"/>
          <p:cNvSpPr/>
          <p:nvPr/>
        </p:nvSpPr>
        <p:spPr>
          <a:xfrm>
            <a:off x="370800" y="3049920"/>
            <a:ext cx="136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22"/>
          <p:cNvSpPr/>
          <p:nvPr/>
        </p:nvSpPr>
        <p:spPr>
          <a:xfrm>
            <a:off x="1828800" y="2999160"/>
            <a:ext cx="1645560" cy="3286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23"/>
          <p:cNvSpPr/>
          <p:nvPr/>
        </p:nvSpPr>
        <p:spPr>
          <a:xfrm>
            <a:off x="1879560" y="3049920"/>
            <a:ext cx="154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Precision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ectangle 24"/>
          <p:cNvSpPr/>
          <p:nvPr/>
        </p:nvSpPr>
        <p:spPr>
          <a:xfrm>
            <a:off x="3520440" y="2999160"/>
            <a:ext cx="2285640" cy="3286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25"/>
          <p:cNvSpPr/>
          <p:nvPr/>
        </p:nvSpPr>
        <p:spPr>
          <a:xfrm>
            <a:off x="3571200" y="3049920"/>
            <a:ext cx="218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Recall / Sensitivity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26"/>
          <p:cNvSpPr/>
          <p:nvPr/>
        </p:nvSpPr>
        <p:spPr>
          <a:xfrm>
            <a:off x="5852160" y="2999160"/>
            <a:ext cx="1645560" cy="3286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27"/>
          <p:cNvSpPr/>
          <p:nvPr/>
        </p:nvSpPr>
        <p:spPr>
          <a:xfrm>
            <a:off x="5902920" y="3049920"/>
            <a:ext cx="154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Specificity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28"/>
          <p:cNvSpPr/>
          <p:nvPr/>
        </p:nvSpPr>
        <p:spPr>
          <a:xfrm>
            <a:off x="7543800" y="2999160"/>
            <a:ext cx="1645560" cy="3286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29"/>
          <p:cNvSpPr/>
          <p:nvPr/>
        </p:nvSpPr>
        <p:spPr>
          <a:xfrm>
            <a:off x="7594560" y="3049920"/>
            <a:ext cx="154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F1-Score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30"/>
          <p:cNvSpPr/>
          <p:nvPr/>
        </p:nvSpPr>
        <p:spPr>
          <a:xfrm>
            <a:off x="9235440" y="2999160"/>
            <a:ext cx="1279800" cy="3286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31"/>
          <p:cNvSpPr/>
          <p:nvPr/>
        </p:nvSpPr>
        <p:spPr>
          <a:xfrm>
            <a:off x="9286200" y="3049920"/>
            <a:ext cx="1178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Support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32"/>
          <p:cNvSpPr/>
          <p:nvPr/>
        </p:nvSpPr>
        <p:spPr>
          <a:xfrm>
            <a:off x="320040" y="3346560"/>
            <a:ext cx="146268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33"/>
          <p:cNvSpPr/>
          <p:nvPr/>
        </p:nvSpPr>
        <p:spPr>
          <a:xfrm>
            <a:off x="370800" y="3422880"/>
            <a:ext cx="1361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Car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34"/>
          <p:cNvSpPr/>
          <p:nvPr/>
        </p:nvSpPr>
        <p:spPr>
          <a:xfrm>
            <a:off x="1828800" y="3346560"/>
            <a:ext cx="164556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35"/>
          <p:cNvSpPr/>
          <p:nvPr/>
        </p:nvSpPr>
        <p:spPr>
          <a:xfrm>
            <a:off x="1879560" y="342288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96.04%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36"/>
          <p:cNvSpPr/>
          <p:nvPr/>
        </p:nvSpPr>
        <p:spPr>
          <a:xfrm>
            <a:off x="3520440" y="3346560"/>
            <a:ext cx="228564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37"/>
          <p:cNvSpPr/>
          <p:nvPr/>
        </p:nvSpPr>
        <p:spPr>
          <a:xfrm>
            <a:off x="3571200" y="3422880"/>
            <a:ext cx="2184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92.92%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38"/>
          <p:cNvSpPr/>
          <p:nvPr/>
        </p:nvSpPr>
        <p:spPr>
          <a:xfrm>
            <a:off x="5852160" y="3346560"/>
            <a:ext cx="164556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39"/>
          <p:cNvSpPr/>
          <p:nvPr/>
        </p:nvSpPr>
        <p:spPr>
          <a:xfrm>
            <a:off x="5902920" y="342288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99.20%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40"/>
          <p:cNvSpPr/>
          <p:nvPr/>
        </p:nvSpPr>
        <p:spPr>
          <a:xfrm>
            <a:off x="7543800" y="3346560"/>
            <a:ext cx="164556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41"/>
          <p:cNvSpPr/>
          <p:nvPr/>
        </p:nvSpPr>
        <p:spPr>
          <a:xfrm>
            <a:off x="7594560" y="342288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94.45%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42"/>
          <p:cNvSpPr/>
          <p:nvPr/>
        </p:nvSpPr>
        <p:spPr>
          <a:xfrm>
            <a:off x="9235440" y="3346560"/>
            <a:ext cx="127980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Box 43"/>
          <p:cNvSpPr/>
          <p:nvPr/>
        </p:nvSpPr>
        <p:spPr>
          <a:xfrm>
            <a:off x="9286200" y="3422880"/>
            <a:ext cx="1178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438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44"/>
          <p:cNvSpPr/>
          <p:nvPr/>
        </p:nvSpPr>
        <p:spPr>
          <a:xfrm>
            <a:off x="320040" y="3822120"/>
            <a:ext cx="146268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45"/>
          <p:cNvSpPr/>
          <p:nvPr/>
        </p:nvSpPr>
        <p:spPr>
          <a:xfrm>
            <a:off x="370800" y="3898440"/>
            <a:ext cx="1361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Bus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46"/>
          <p:cNvSpPr/>
          <p:nvPr/>
        </p:nvSpPr>
        <p:spPr>
          <a:xfrm>
            <a:off x="1828800" y="3822120"/>
            <a:ext cx="164556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47"/>
          <p:cNvSpPr/>
          <p:nvPr/>
        </p:nvSpPr>
        <p:spPr>
          <a:xfrm>
            <a:off x="1879560" y="389844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99.16%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ectangle 48"/>
          <p:cNvSpPr/>
          <p:nvPr/>
        </p:nvSpPr>
        <p:spPr>
          <a:xfrm>
            <a:off x="3520440" y="3822120"/>
            <a:ext cx="228564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Box 49"/>
          <p:cNvSpPr/>
          <p:nvPr/>
        </p:nvSpPr>
        <p:spPr>
          <a:xfrm>
            <a:off x="3571200" y="3898440"/>
            <a:ext cx="2184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97.45%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50"/>
          <p:cNvSpPr/>
          <p:nvPr/>
        </p:nvSpPr>
        <p:spPr>
          <a:xfrm>
            <a:off x="5852160" y="3822120"/>
            <a:ext cx="164556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51"/>
          <p:cNvSpPr/>
          <p:nvPr/>
        </p:nvSpPr>
        <p:spPr>
          <a:xfrm>
            <a:off x="5902920" y="389844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99.39%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52"/>
          <p:cNvSpPr/>
          <p:nvPr/>
        </p:nvSpPr>
        <p:spPr>
          <a:xfrm>
            <a:off x="7543800" y="3822120"/>
            <a:ext cx="164556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53"/>
          <p:cNvSpPr/>
          <p:nvPr/>
        </p:nvSpPr>
        <p:spPr>
          <a:xfrm>
            <a:off x="7594560" y="389844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98.30%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54"/>
          <p:cNvSpPr/>
          <p:nvPr/>
        </p:nvSpPr>
        <p:spPr>
          <a:xfrm>
            <a:off x="9235440" y="3822120"/>
            <a:ext cx="127980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55"/>
          <p:cNvSpPr/>
          <p:nvPr/>
        </p:nvSpPr>
        <p:spPr>
          <a:xfrm>
            <a:off x="9286200" y="3898440"/>
            <a:ext cx="1178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1,136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ectangle 56"/>
          <p:cNvSpPr/>
          <p:nvPr/>
        </p:nvSpPr>
        <p:spPr>
          <a:xfrm>
            <a:off x="320040" y="4297680"/>
            <a:ext cx="146268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57"/>
          <p:cNvSpPr/>
          <p:nvPr/>
        </p:nvSpPr>
        <p:spPr>
          <a:xfrm>
            <a:off x="370800" y="4374000"/>
            <a:ext cx="1361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Truck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58"/>
          <p:cNvSpPr/>
          <p:nvPr/>
        </p:nvSpPr>
        <p:spPr>
          <a:xfrm>
            <a:off x="1828800" y="4297680"/>
            <a:ext cx="164556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59"/>
          <p:cNvSpPr/>
          <p:nvPr/>
        </p:nvSpPr>
        <p:spPr>
          <a:xfrm>
            <a:off x="1879560" y="437400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93.69%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Rectangle 60"/>
          <p:cNvSpPr/>
          <p:nvPr/>
        </p:nvSpPr>
        <p:spPr>
          <a:xfrm>
            <a:off x="3520440" y="4297680"/>
            <a:ext cx="228564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61"/>
          <p:cNvSpPr/>
          <p:nvPr/>
        </p:nvSpPr>
        <p:spPr>
          <a:xfrm>
            <a:off x="3571200" y="4374000"/>
            <a:ext cx="2184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96.26%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62"/>
          <p:cNvSpPr/>
          <p:nvPr/>
        </p:nvSpPr>
        <p:spPr>
          <a:xfrm>
            <a:off x="5852160" y="4297680"/>
            <a:ext cx="164556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63"/>
          <p:cNvSpPr/>
          <p:nvPr/>
        </p:nvSpPr>
        <p:spPr>
          <a:xfrm>
            <a:off x="5902920" y="437400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97.71%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64"/>
          <p:cNvSpPr/>
          <p:nvPr/>
        </p:nvSpPr>
        <p:spPr>
          <a:xfrm>
            <a:off x="7543800" y="4297680"/>
            <a:ext cx="164556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65"/>
          <p:cNvSpPr/>
          <p:nvPr/>
        </p:nvSpPr>
        <p:spPr>
          <a:xfrm>
            <a:off x="7594560" y="437400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94.96%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66"/>
          <p:cNvSpPr/>
          <p:nvPr/>
        </p:nvSpPr>
        <p:spPr>
          <a:xfrm>
            <a:off x="9235440" y="4297680"/>
            <a:ext cx="1279800" cy="456840"/>
          </a:xfrm>
          <a:prstGeom prst="rect">
            <a:avLst/>
          </a:prstGeom>
          <a:solidFill>
            <a:srgbClr val="F2F5F9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67"/>
          <p:cNvSpPr/>
          <p:nvPr/>
        </p:nvSpPr>
        <p:spPr>
          <a:xfrm>
            <a:off x="9286200" y="4374000"/>
            <a:ext cx="1178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695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68"/>
          <p:cNvSpPr/>
          <p:nvPr/>
        </p:nvSpPr>
        <p:spPr>
          <a:xfrm>
            <a:off x="320040" y="4773240"/>
            <a:ext cx="146268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69"/>
          <p:cNvSpPr/>
          <p:nvPr/>
        </p:nvSpPr>
        <p:spPr>
          <a:xfrm>
            <a:off x="370800" y="4849200"/>
            <a:ext cx="1361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Background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70"/>
          <p:cNvSpPr/>
          <p:nvPr/>
        </p:nvSpPr>
        <p:spPr>
          <a:xfrm>
            <a:off x="1828800" y="4773240"/>
            <a:ext cx="164556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71"/>
          <p:cNvSpPr/>
          <p:nvPr/>
        </p:nvSpPr>
        <p:spPr>
          <a:xfrm>
            <a:off x="1879560" y="484920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93.86%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72"/>
          <p:cNvSpPr/>
          <p:nvPr/>
        </p:nvSpPr>
        <p:spPr>
          <a:xfrm>
            <a:off x="3520440" y="4773240"/>
            <a:ext cx="228564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73"/>
          <p:cNvSpPr/>
          <p:nvPr/>
        </p:nvSpPr>
        <p:spPr>
          <a:xfrm>
            <a:off x="3571200" y="4849200"/>
            <a:ext cx="2184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97.97%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74"/>
          <p:cNvSpPr/>
          <p:nvPr/>
        </p:nvSpPr>
        <p:spPr>
          <a:xfrm>
            <a:off x="5852160" y="4773240"/>
            <a:ext cx="164556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75"/>
          <p:cNvSpPr/>
          <p:nvPr/>
        </p:nvSpPr>
        <p:spPr>
          <a:xfrm>
            <a:off x="5902920" y="484920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99.03%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76"/>
          <p:cNvSpPr/>
          <p:nvPr/>
        </p:nvSpPr>
        <p:spPr>
          <a:xfrm>
            <a:off x="7543800" y="4773240"/>
            <a:ext cx="164556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77"/>
          <p:cNvSpPr/>
          <p:nvPr/>
        </p:nvSpPr>
        <p:spPr>
          <a:xfrm>
            <a:off x="7594560" y="4849200"/>
            <a:ext cx="1544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95.87%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Rectangle 78"/>
          <p:cNvSpPr/>
          <p:nvPr/>
        </p:nvSpPr>
        <p:spPr>
          <a:xfrm>
            <a:off x="9235440" y="4773240"/>
            <a:ext cx="1279800" cy="456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79"/>
          <p:cNvSpPr/>
          <p:nvPr/>
        </p:nvSpPr>
        <p:spPr>
          <a:xfrm>
            <a:off x="9286200" y="4849200"/>
            <a:ext cx="1178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345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80"/>
          <p:cNvSpPr/>
          <p:nvPr/>
        </p:nvSpPr>
        <p:spPr>
          <a:xfrm>
            <a:off x="0" y="6400800"/>
            <a:ext cx="1218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EPL 445 – Digital Video Processing  |  University of Cyprus, Spring 2026  |  Slide 5/8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ectangle 81"/>
          <p:cNvSpPr/>
          <p:nvPr/>
        </p:nvSpPr>
        <p:spPr>
          <a:xfrm>
            <a:off x="0" y="6355080"/>
            <a:ext cx="12188520" cy="1872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2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Rectangle 2"/>
          <p:cNvSpPr/>
          <p:nvPr/>
        </p:nvSpPr>
        <p:spPr>
          <a:xfrm>
            <a:off x="0" y="0"/>
            <a:ext cx="12188520" cy="114300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Training Curves &amp; Performance Visualizations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3"/>
          <p:cNvSpPr/>
          <p:nvPr/>
        </p:nvSpPr>
        <p:spPr>
          <a:xfrm>
            <a:off x="228600" y="1069920"/>
            <a:ext cx="566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Training Curves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0" name="Picture 4" descr="training_curves.png"/>
          <p:cNvPicPr/>
          <p:nvPr/>
        </p:nvPicPr>
        <p:blipFill>
          <a:blip r:embed="rId1"/>
          <a:stretch/>
        </p:blipFill>
        <p:spPr>
          <a:xfrm>
            <a:off x="228600" y="1325880"/>
            <a:ext cx="5668920" cy="228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TextBox 5"/>
          <p:cNvSpPr/>
          <p:nvPr/>
        </p:nvSpPr>
        <p:spPr>
          <a:xfrm>
            <a:off x="6263640" y="1069920"/>
            <a:ext cx="566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Confusion Matrix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Picture 6" descr="confusion_matrix.png"/>
          <p:cNvPicPr/>
          <p:nvPr/>
        </p:nvPicPr>
        <p:blipFill>
          <a:blip r:embed="rId2"/>
          <a:stretch/>
        </p:blipFill>
        <p:spPr>
          <a:xfrm>
            <a:off x="6263640" y="1325880"/>
            <a:ext cx="5668920" cy="228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Box 7"/>
          <p:cNvSpPr/>
          <p:nvPr/>
        </p:nvSpPr>
        <p:spPr>
          <a:xfrm>
            <a:off x="228600" y="3538800"/>
            <a:ext cx="566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ROC Curves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4" name="Picture 8" descr="roc_curves.png"/>
          <p:cNvPicPr/>
          <p:nvPr/>
        </p:nvPicPr>
        <p:blipFill>
          <a:blip r:embed="rId3"/>
          <a:stretch/>
        </p:blipFill>
        <p:spPr>
          <a:xfrm>
            <a:off x="228600" y="3794760"/>
            <a:ext cx="5668920" cy="228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Box 9"/>
          <p:cNvSpPr/>
          <p:nvPr/>
        </p:nvSpPr>
        <p:spPr>
          <a:xfrm>
            <a:off x="6263640" y="3538800"/>
            <a:ext cx="566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Per-Class F1 Score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6" name="Picture 10" descr="per_class_f1.png"/>
          <p:cNvPicPr/>
          <p:nvPr/>
        </p:nvPicPr>
        <p:blipFill>
          <a:blip r:embed="rId4"/>
          <a:stretch/>
        </p:blipFill>
        <p:spPr>
          <a:xfrm>
            <a:off x="6263640" y="3794760"/>
            <a:ext cx="5668920" cy="228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Box 11"/>
          <p:cNvSpPr/>
          <p:nvPr/>
        </p:nvSpPr>
        <p:spPr>
          <a:xfrm>
            <a:off x="0" y="6400800"/>
            <a:ext cx="1218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EPL 445 – Digital Video Processing  |  University of Cyprus, Spring 2026  |  Slide 6/8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12"/>
          <p:cNvSpPr/>
          <p:nvPr/>
        </p:nvSpPr>
        <p:spPr>
          <a:xfrm>
            <a:off x="0" y="6355080"/>
            <a:ext cx="12188520" cy="1872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Video Inference Pipeline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Rectangle 3"/>
          <p:cNvSpPr/>
          <p:nvPr/>
        </p:nvSpPr>
        <p:spPr>
          <a:xfrm>
            <a:off x="274320" y="1417320"/>
            <a:ext cx="11521080" cy="776880"/>
          </a:xfrm>
          <a:prstGeom prst="rect">
            <a:avLst/>
          </a:prstGeom>
          <a:solidFill>
            <a:srgbClr val="FFF3CD"/>
          </a:solidFill>
          <a:ln w="12700">
            <a:solidFill>
              <a:srgbClr val="E67E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TextBox 4"/>
          <p:cNvSpPr/>
          <p:nvPr/>
        </p:nvSpPr>
        <p:spPr>
          <a:xfrm>
            <a:off x="457200" y="1481400"/>
            <a:ext cx="11155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05000"/>
                </a:solidFill>
                <a:effectLst/>
                <a:uFillTx/>
                <a:latin typeface="Calibri"/>
              </a:rPr>
              <a:t>Challenge: MobileViT is a patch classifier (trained on cropped objects). Applied directly to full-resolution frames it has poor localisation.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Rectangle 5"/>
          <p:cNvSpPr/>
          <p:nvPr/>
        </p:nvSpPr>
        <p:spPr>
          <a:xfrm>
            <a:off x="320040" y="2403000"/>
            <a:ext cx="319680" cy="31968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TextBox 6"/>
          <p:cNvSpPr/>
          <p:nvPr/>
        </p:nvSpPr>
        <p:spPr>
          <a:xfrm>
            <a:off x="777240" y="2377440"/>
            <a:ext cx="10789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1. Frame Extraction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7"/>
          <p:cNvSpPr/>
          <p:nvPr/>
        </p:nvSpPr>
        <p:spPr>
          <a:xfrm>
            <a:off x="777240" y="2679120"/>
            <a:ext cx="10789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Video decoded frame-by-frame using OpenCV (with frame_skip).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Rectangle 8"/>
          <p:cNvSpPr/>
          <p:nvPr/>
        </p:nvSpPr>
        <p:spPr>
          <a:xfrm>
            <a:off x="320040" y="3289680"/>
            <a:ext cx="319680" cy="31968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Box 9"/>
          <p:cNvSpPr/>
          <p:nvPr/>
        </p:nvSpPr>
        <p:spPr>
          <a:xfrm>
            <a:off x="777240" y="3264480"/>
            <a:ext cx="10789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2. Multi-Scale Sliding Window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10"/>
          <p:cNvSpPr/>
          <p:nvPr/>
        </p:nvSpPr>
        <p:spPr>
          <a:xfrm>
            <a:off x="777240" y="3566160"/>
            <a:ext cx="10789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Windows of 3 sizes (120, 180, 256 px) stride across each frame; each patch resized to 256×256 for MobileViT.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Rectangle 11"/>
          <p:cNvSpPr/>
          <p:nvPr/>
        </p:nvSpPr>
        <p:spPr>
          <a:xfrm>
            <a:off x="320040" y="4176720"/>
            <a:ext cx="319680" cy="31968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TextBox 12"/>
          <p:cNvSpPr/>
          <p:nvPr/>
        </p:nvSpPr>
        <p:spPr>
          <a:xfrm>
            <a:off x="777240" y="4151520"/>
            <a:ext cx="10789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3. Non-Maximum Suppression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13"/>
          <p:cNvSpPr/>
          <p:nvPr/>
        </p:nvSpPr>
        <p:spPr>
          <a:xfrm>
            <a:off x="777240" y="4453200"/>
            <a:ext cx="10789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Per-class NMS at IoU 0.3, retaining the highest-confidence detection.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14"/>
          <p:cNvSpPr/>
          <p:nvPr/>
        </p:nvSpPr>
        <p:spPr>
          <a:xfrm>
            <a:off x="320040" y="5063760"/>
            <a:ext cx="319680" cy="31968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Box 15"/>
          <p:cNvSpPr/>
          <p:nvPr/>
        </p:nvSpPr>
        <p:spPr>
          <a:xfrm>
            <a:off x="777240" y="5038200"/>
            <a:ext cx="107895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4. Aggregation &amp; Output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6"/>
          <p:cNvSpPr/>
          <p:nvPr/>
        </p:nvSpPr>
        <p:spPr>
          <a:xfrm>
            <a:off x="777240" y="5340240"/>
            <a:ext cx="10789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Per-frame class counts → CSV. Aggregated totals → JSON. Annotated bounding boxes → MP4.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ectangle 17"/>
          <p:cNvSpPr/>
          <p:nvPr/>
        </p:nvSpPr>
        <p:spPr>
          <a:xfrm>
            <a:off x="274320" y="5897880"/>
            <a:ext cx="11521080" cy="38376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18"/>
          <p:cNvSpPr/>
          <p:nvPr/>
        </p:nvSpPr>
        <p:spPr>
          <a:xfrm>
            <a:off x="457200" y="5925240"/>
            <a:ext cx="111553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Working video demo with per-frame density estimates  |  Phase 3: replace sliding window with YOLOv8-nano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19"/>
          <p:cNvSpPr/>
          <p:nvPr/>
        </p:nvSpPr>
        <p:spPr>
          <a:xfrm>
            <a:off x="0" y="6400800"/>
            <a:ext cx="1218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EPL 445 – Digital Video Processing  |  University of Cyprus, Spring 2026  |  Slide 7/8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20"/>
          <p:cNvSpPr/>
          <p:nvPr/>
        </p:nvSpPr>
        <p:spPr>
          <a:xfrm>
            <a:off x="0" y="6355080"/>
            <a:ext cx="12188520" cy="1872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2F5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003A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Next Steps — Final Presentation (25 May 2026)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3"/>
          <p:cNvSpPr/>
          <p:nvPr/>
        </p:nvSpPr>
        <p:spPr>
          <a:xfrm>
            <a:off x="274320" y="1417320"/>
            <a:ext cx="11429640" cy="1023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8B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ectangle 4"/>
          <p:cNvSpPr/>
          <p:nvPr/>
        </p:nvSpPr>
        <p:spPr>
          <a:xfrm>
            <a:off x="320040" y="1764720"/>
            <a:ext cx="109440" cy="10944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5"/>
          <p:cNvSpPr/>
          <p:nvPr/>
        </p:nvSpPr>
        <p:spPr>
          <a:xfrm>
            <a:off x="530280" y="14806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Detection Upgrade: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6"/>
          <p:cNvSpPr/>
          <p:nvPr/>
        </p:nvSpPr>
        <p:spPr>
          <a:xfrm>
            <a:off x="2880360" y="1480680"/>
            <a:ext cx="8686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Replace sliding-window with YOLOv8-nano for box proposals; pass each crop to MobileViT classifier. Expected &gt;10× speed-up.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ectangle 7"/>
          <p:cNvSpPr/>
          <p:nvPr/>
        </p:nvSpPr>
        <p:spPr>
          <a:xfrm>
            <a:off x="274320" y="2532960"/>
            <a:ext cx="11429640" cy="1023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8B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Rectangle 8"/>
          <p:cNvSpPr/>
          <p:nvPr/>
        </p:nvSpPr>
        <p:spPr>
          <a:xfrm>
            <a:off x="320040" y="2880360"/>
            <a:ext cx="109440" cy="10944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Box 9"/>
          <p:cNvSpPr/>
          <p:nvPr/>
        </p:nvSpPr>
        <p:spPr>
          <a:xfrm>
            <a:off x="530280" y="25963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Tracking Engine: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10"/>
          <p:cNvSpPr/>
          <p:nvPr/>
        </p:nvSpPr>
        <p:spPr>
          <a:xfrm>
            <a:off x="2880360" y="2596320"/>
            <a:ext cx="8686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SORT / ByteTrack to assign persistent IDs across frames; eliminates double-counting for time-series occupancy.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11"/>
          <p:cNvSpPr/>
          <p:nvPr/>
        </p:nvSpPr>
        <p:spPr>
          <a:xfrm>
            <a:off x="274320" y="3648600"/>
            <a:ext cx="11429640" cy="1023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8B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Rectangle 12"/>
          <p:cNvSpPr/>
          <p:nvPr/>
        </p:nvSpPr>
        <p:spPr>
          <a:xfrm>
            <a:off x="320040" y="3996000"/>
            <a:ext cx="109440" cy="10944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Box 13"/>
          <p:cNvSpPr/>
          <p:nvPr/>
        </p:nvSpPr>
        <p:spPr>
          <a:xfrm>
            <a:off x="530280" y="371196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Web Dashboard: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14"/>
          <p:cNvSpPr/>
          <p:nvPr/>
        </p:nvSpPr>
        <p:spPr>
          <a:xfrm>
            <a:off x="2880360" y="3711960"/>
            <a:ext cx="8686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FastAPI / Streamlit: upload video, view live counts, ROI lane counting, density heat-maps.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15"/>
          <p:cNvSpPr/>
          <p:nvPr/>
        </p:nvSpPr>
        <p:spPr>
          <a:xfrm>
            <a:off x="274320" y="4763880"/>
            <a:ext cx="11429640" cy="10238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8BD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Rectangle 16"/>
          <p:cNvSpPr/>
          <p:nvPr/>
        </p:nvSpPr>
        <p:spPr>
          <a:xfrm>
            <a:off x="320040" y="5111640"/>
            <a:ext cx="109440" cy="10944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Box 17"/>
          <p:cNvSpPr/>
          <p:nvPr/>
        </p:nvSpPr>
        <p:spPr>
          <a:xfrm>
            <a:off x="530280" y="482760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A70"/>
                </a:solidFill>
                <a:effectLst/>
                <a:uFillTx/>
                <a:latin typeface="Calibri"/>
              </a:rPr>
              <a:t>Real-Time Support: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8"/>
          <p:cNvSpPr/>
          <p:nvPr/>
        </p:nvSpPr>
        <p:spPr>
          <a:xfrm>
            <a:off x="2880360" y="4827600"/>
            <a:ext cx="8686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RTSP stream ingestion for live camera integration; target latency &lt;200 ms/frame on GPU.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19"/>
          <p:cNvSpPr/>
          <p:nvPr/>
        </p:nvSpPr>
        <p:spPr>
          <a:xfrm>
            <a:off x="274320" y="5943600"/>
            <a:ext cx="11521080" cy="347040"/>
          </a:xfrm>
          <a:prstGeom prst="rect">
            <a:avLst/>
          </a:prstGeom>
          <a:solidFill>
            <a:srgbClr val="1A8A4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21"/>
          <p:cNvSpPr/>
          <p:nvPr/>
        </p:nvSpPr>
        <p:spPr>
          <a:xfrm>
            <a:off x="0" y="6400800"/>
            <a:ext cx="1218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888888"/>
                </a:solidFill>
                <a:effectLst/>
                <a:uFillTx/>
                <a:latin typeface="Calibri"/>
              </a:rPr>
              <a:t>EPL 445 – Digital Video Processing  |  University of Cyprus, Spring 2026  |  Slide 8/8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22"/>
          <p:cNvSpPr/>
          <p:nvPr/>
        </p:nvSpPr>
        <p:spPr>
          <a:xfrm>
            <a:off x="0" y="6355080"/>
            <a:ext cx="12188520" cy="18720"/>
          </a:xfrm>
          <a:prstGeom prst="rect">
            <a:avLst/>
          </a:prstGeom>
          <a:solidFill>
            <a:srgbClr val="008BD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2026-04-20T17:08:13Z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