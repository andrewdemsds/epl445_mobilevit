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C83873-4EF9-41D4-AC04-E848EA4EF3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EB9586-445A-4166-A23F-CFA57782D4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688F26-9ED8-4636-979D-7EA5D591DE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64C2D4-655C-4988-A814-C2D1B65C9C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BBFF27-9E5F-4970-AC2B-698ADEFECA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6EF52D-9C98-4270-9E5F-2989325897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F60869-0826-4087-A172-B8D6D2196C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FD9152-75DC-4947-B3B5-C554AD5260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BB3EE2-3F68-443A-85C6-A6413CA738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75A2DB-AFF5-493E-A7DB-2C7B715267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0292E9-432C-4837-AD38-C363F79BD3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5303520"/>
            <a:ext cx="12188520" cy="7272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1097280"/>
            <a:ext cx="1051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MobileViT-Based Traffic Analysis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31520" y="21488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008BD0"/>
                </a:solidFill>
                <a:effectLst/>
                <a:uFillTx/>
                <a:latin typeface="Calibri"/>
              </a:rPr>
              <a:t>for Digital Twin Optimization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371600" y="29718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Interim Presentation #2  —  First Runs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3200400" y="3566160"/>
            <a:ext cx="5760360" cy="2520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914400" y="3794760"/>
            <a:ext cx="10240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Andreas Demosthenous  &amp;  Marios Olymbios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914400" y="425196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8BD0"/>
                </a:solidFill>
                <a:effectLst/>
                <a:uFillTx/>
                <a:latin typeface="Calibri"/>
              </a:rPr>
              <a:t>EPL 445 – Digital Video Processing  |  University of Cyprus  |  April 23, 2026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0" y="6400800"/>
            <a:ext cx="1218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EPL 445 – Digital Video Processing  |  University of Cyprus, Spring 2026  |  Slide 1/8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0" y="6355080"/>
            <a:ext cx="12188520" cy="1872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2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Agenda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1371600" y="1371600"/>
            <a:ext cx="9143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1.  Project Recap &amp; Goals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371600" y="2011680"/>
            <a:ext cx="9143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2.  Dataset &amp; Training Setup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1371600" y="2651760"/>
            <a:ext cx="9143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3.  Performance Metrics (Test Set)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1371600" y="3291840"/>
            <a:ext cx="9143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4.  Training Curves &amp; Visualizations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1371600" y="3931920"/>
            <a:ext cx="9143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5.  Video Inference Pipeline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1371600" y="4572000"/>
            <a:ext cx="9143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6.  Next Steps — Final Presentation (25 May 2026)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0" y="6400800"/>
            <a:ext cx="1218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EPL 445 – Digital Video Processing  |  University of Cyprus, Spring 2026  |  Slide 2/8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0"/>
          <p:cNvSpPr/>
          <p:nvPr/>
        </p:nvSpPr>
        <p:spPr>
          <a:xfrm>
            <a:off x="0" y="6355080"/>
            <a:ext cx="12188520" cy="1872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Project Recap &amp; Interim 2 Goals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274320" y="868680"/>
            <a:ext cx="118868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8BD0"/>
                </a:solidFill>
                <a:effectLst/>
                <a:uFillTx/>
                <a:latin typeface="Calibri"/>
              </a:rPr>
              <a:t>  Topic: Mobile Video Processing &amp; Analysis  (EPL 445, Topic #1)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4"/>
          <p:cNvSpPr/>
          <p:nvPr/>
        </p:nvSpPr>
        <p:spPr>
          <a:xfrm>
            <a:off x="365760" y="1417320"/>
            <a:ext cx="11338200" cy="7768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502920" y="14680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Scientific Goal: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3063240" y="146808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Intelligent auto-interpretation of traffic video to support city Digital Twin systems via vehicle detection and density estimation.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7"/>
          <p:cNvSpPr/>
          <p:nvPr/>
        </p:nvSpPr>
        <p:spPr>
          <a:xfrm>
            <a:off x="365760" y="2331720"/>
            <a:ext cx="11338200" cy="7768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502920" y="23824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Interim 2 Objective: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3063240" y="238248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FIRST RUNS — demonstrate a working, end-to-end pipeline using lightweight models on video frames; verify all metrics on the test set.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0"/>
          <p:cNvSpPr/>
          <p:nvPr/>
        </p:nvSpPr>
        <p:spPr>
          <a:xfrm>
            <a:off x="365760" y="3246120"/>
            <a:ext cx="11338200" cy="7768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1"/>
          <p:cNvSpPr/>
          <p:nvPr/>
        </p:nvSpPr>
        <p:spPr>
          <a:xfrm>
            <a:off x="502920" y="3296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Why MobileViT?: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2"/>
          <p:cNvSpPr/>
          <p:nvPr/>
        </p:nvSpPr>
        <p:spPr>
          <a:xfrm>
            <a:off x="3063240" y="329688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Light-weight Vision Transformer (ICLR 2022). Balances accuracy and efficiency — designed for mobile/edge deployment without sacrificing performance.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3"/>
          <p:cNvSpPr/>
          <p:nvPr/>
        </p:nvSpPr>
        <p:spPr>
          <a:xfrm>
            <a:off x="365760" y="4160520"/>
            <a:ext cx="11338200" cy="776880"/>
          </a:xfrm>
          <a:prstGeom prst="rect">
            <a:avLst/>
          </a:prstGeom>
          <a:solidFill>
            <a:srgbClr val="F2F5F9"/>
          </a:solidFill>
          <a:ln w="12700">
            <a:solidFill>
              <a:srgbClr val="008B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4"/>
          <p:cNvSpPr/>
          <p:nvPr/>
        </p:nvSpPr>
        <p:spPr>
          <a:xfrm>
            <a:off x="502920" y="42112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Model Source: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5"/>
          <p:cNvSpPr/>
          <p:nvPr/>
        </p:nvSpPr>
        <p:spPr>
          <a:xfrm>
            <a:off x="3063240" y="421128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Pre-trained MobileViT-S backbone from timm (ImageNet); fine-tuned on UA-DETRAC crops.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0" y="6400800"/>
            <a:ext cx="1218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EPL 445 – Digital Video Processing  |  University of Cyprus, Spring 2026  |  Slide 3/8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7"/>
          <p:cNvSpPr/>
          <p:nvPr/>
        </p:nvSpPr>
        <p:spPr>
          <a:xfrm>
            <a:off x="0" y="6355080"/>
            <a:ext cx="12188520" cy="1872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2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Dataset &amp; Training Setup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274320" y="1371600"/>
            <a:ext cx="5303160" cy="475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A7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502920" y="14630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Dataset: UA-DETRAC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548640" y="192024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Source: Wen et al., 2020 — urban traffic surveillance sequences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548640" y="222192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~475,000 cropped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vehicle patches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extracted from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annotated frames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548640" y="252360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4 Classes:  Car  |  Bus  |  Truck  |  Background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548640" y="282564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Stratified train / val / test split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548640" y="312732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  Train   — 19,225 samples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48640" y="342900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  Val      —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2,552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samples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548640" y="373068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  Test     — 2,551 samples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2"/>
          <p:cNvSpPr/>
          <p:nvPr/>
        </p:nvSpPr>
        <p:spPr>
          <a:xfrm>
            <a:off x="548640" y="403236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Image size: 256 × 256  →  224 × 224 centre-crop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548640" y="433440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Augmentation: random flip, colour jitter, normalisation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4"/>
          <p:cNvSpPr/>
          <p:nvPr/>
        </p:nvSpPr>
        <p:spPr>
          <a:xfrm>
            <a:off x="6035040" y="1371600"/>
            <a:ext cx="5851800" cy="475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5"/>
          <p:cNvSpPr/>
          <p:nvPr/>
        </p:nvSpPr>
        <p:spPr>
          <a:xfrm>
            <a:off x="6263640" y="14630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Training Strategy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6"/>
          <p:cNvSpPr/>
          <p:nvPr/>
        </p:nvSpPr>
        <p:spPr>
          <a:xfrm>
            <a:off x="6263640" y="192024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Staged Fine-Tuning (15 epochs total)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6263640" y="225864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Epochs 1–3: 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Backbone frozen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8"/>
          <p:cNvSpPr/>
          <p:nvPr/>
        </p:nvSpPr>
        <p:spPr>
          <a:xfrm>
            <a:off x="6263640" y="259704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        Only classifier head trained (lr = 1e-3)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9"/>
          <p:cNvSpPr/>
          <p:nvPr/>
        </p:nvSpPr>
        <p:spPr>
          <a:xfrm>
            <a:off x="6263640" y="293508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Epochs 4–15:  Full model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unfrozen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0"/>
          <p:cNvSpPr/>
          <p:nvPr/>
        </p:nvSpPr>
        <p:spPr>
          <a:xfrm>
            <a:off x="6263640" y="327348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        End-to-end fine-tuning (lr = 1e-4)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1"/>
          <p:cNvSpPr/>
          <p:nvPr/>
        </p:nvSpPr>
        <p:spPr>
          <a:xfrm>
            <a:off x="6263640" y="361188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Optimizer: AdamW  |  Scheduler: CosineAnnealingLR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2"/>
          <p:cNvSpPr/>
          <p:nvPr/>
        </p:nvSpPr>
        <p:spPr>
          <a:xfrm>
            <a:off x="6263640" y="395028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Loss: Cross-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Entropy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3"/>
          <p:cNvSpPr/>
          <p:nvPr/>
        </p:nvSpPr>
        <p:spPr>
          <a:xfrm>
            <a:off x="6263640" y="428868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Hardware: GPU (NVIDIA)  |  Batch size: 64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4"/>
          <p:cNvSpPr/>
          <p:nvPr/>
        </p:nvSpPr>
        <p:spPr>
          <a:xfrm>
            <a:off x="6263640" y="46267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Best checkpoint saved at epoch with highest val accuracy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5"/>
          <p:cNvSpPr/>
          <p:nvPr/>
        </p:nvSpPr>
        <p:spPr>
          <a:xfrm>
            <a:off x="6263640" y="49651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Best val accuracy: 96.63%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6"/>
          <p:cNvSpPr/>
          <p:nvPr/>
        </p:nvSpPr>
        <p:spPr>
          <a:xfrm>
            <a:off x="0" y="6400800"/>
            <a:ext cx="1218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EPL 445 – Digital Video Processing  |  University of Cyprus, Spring 2026  |  Slide 4/8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27"/>
          <p:cNvSpPr/>
          <p:nvPr/>
        </p:nvSpPr>
        <p:spPr>
          <a:xfrm>
            <a:off x="0" y="6355080"/>
            <a:ext cx="12188520" cy="1872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Performance Metrics — Test Set  (n = 2,551)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274320" y="868680"/>
            <a:ext cx="118868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8BD0"/>
                </a:solidFill>
                <a:effectLst/>
                <a:uFillTx/>
                <a:latin typeface="Calibri"/>
              </a:rPr>
              <a:t>  Metrics evaluated on held-out test set as required by Interim #2 brief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4"/>
          <p:cNvSpPr/>
          <p:nvPr/>
        </p:nvSpPr>
        <p:spPr>
          <a:xfrm>
            <a:off x="228600" y="1417320"/>
            <a:ext cx="2194200" cy="95976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330120" y="1518840"/>
            <a:ext cx="199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Accuracy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279360" y="1710000"/>
            <a:ext cx="209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96.71%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7"/>
          <p:cNvSpPr/>
          <p:nvPr/>
        </p:nvSpPr>
        <p:spPr>
          <a:xfrm>
            <a:off x="2587680" y="1417320"/>
            <a:ext cx="2194200" cy="95976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2689200" y="1518840"/>
            <a:ext cx="199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Macro F1-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9"/>
          <p:cNvSpPr/>
          <p:nvPr/>
        </p:nvSpPr>
        <p:spPr>
          <a:xfrm>
            <a:off x="2638440" y="1710000"/>
            <a:ext cx="209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96.88%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0"/>
          <p:cNvSpPr/>
          <p:nvPr/>
        </p:nvSpPr>
        <p:spPr>
          <a:xfrm>
            <a:off x="4946760" y="1417320"/>
            <a:ext cx="2194200" cy="959760"/>
          </a:xfrm>
          <a:prstGeom prst="rect">
            <a:avLst/>
          </a:prstGeom>
          <a:solidFill>
            <a:srgbClr val="1A6A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1"/>
          <p:cNvSpPr/>
          <p:nvPr/>
        </p:nvSpPr>
        <p:spPr>
          <a:xfrm>
            <a:off x="5048640" y="1518840"/>
            <a:ext cx="199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Macro Precision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2"/>
          <p:cNvSpPr/>
          <p:nvPr/>
        </p:nvSpPr>
        <p:spPr>
          <a:xfrm>
            <a:off x="4997880" y="1710000"/>
            <a:ext cx="209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97.19%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3"/>
          <p:cNvSpPr/>
          <p:nvPr/>
        </p:nvSpPr>
        <p:spPr>
          <a:xfrm>
            <a:off x="7306200" y="1417320"/>
            <a:ext cx="2194200" cy="959760"/>
          </a:xfrm>
          <a:prstGeom prst="rect">
            <a:avLst/>
          </a:prstGeom>
          <a:solidFill>
            <a:srgbClr val="1374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4"/>
          <p:cNvSpPr/>
          <p:nvPr/>
        </p:nvSpPr>
        <p:spPr>
          <a:xfrm>
            <a:off x="7407720" y="1518840"/>
            <a:ext cx="199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Macro Recall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5"/>
          <p:cNvSpPr/>
          <p:nvPr/>
        </p:nvSpPr>
        <p:spPr>
          <a:xfrm>
            <a:off x="7356960" y="1710000"/>
            <a:ext cx="209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96.60%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16"/>
          <p:cNvSpPr/>
          <p:nvPr/>
        </p:nvSpPr>
        <p:spPr>
          <a:xfrm>
            <a:off x="9665280" y="1417320"/>
            <a:ext cx="2194200" cy="959760"/>
          </a:xfrm>
          <a:prstGeom prst="rect">
            <a:avLst/>
          </a:prstGeom>
          <a:solidFill>
            <a:srgbClr val="1A8A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7"/>
          <p:cNvSpPr/>
          <p:nvPr/>
        </p:nvSpPr>
        <p:spPr>
          <a:xfrm>
            <a:off x="9766800" y="1518840"/>
            <a:ext cx="199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Macro AUC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8"/>
          <p:cNvSpPr/>
          <p:nvPr/>
        </p:nvSpPr>
        <p:spPr>
          <a:xfrm>
            <a:off x="9716040" y="1710000"/>
            <a:ext cx="209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99.79%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9"/>
          <p:cNvSpPr/>
          <p:nvPr/>
        </p:nvSpPr>
        <p:spPr>
          <a:xfrm>
            <a:off x="320040" y="2606040"/>
            <a:ext cx="11429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Per-Class Results (Test Set)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20"/>
          <p:cNvSpPr/>
          <p:nvPr/>
        </p:nvSpPr>
        <p:spPr>
          <a:xfrm>
            <a:off x="320040" y="2999160"/>
            <a:ext cx="1462680" cy="3286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1"/>
          <p:cNvSpPr/>
          <p:nvPr/>
        </p:nvSpPr>
        <p:spPr>
          <a:xfrm>
            <a:off x="370800" y="3049920"/>
            <a:ext cx="136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Class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22"/>
          <p:cNvSpPr/>
          <p:nvPr/>
        </p:nvSpPr>
        <p:spPr>
          <a:xfrm>
            <a:off x="1828800" y="2999160"/>
            <a:ext cx="1645560" cy="3286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3"/>
          <p:cNvSpPr/>
          <p:nvPr/>
        </p:nvSpPr>
        <p:spPr>
          <a:xfrm>
            <a:off x="1879560" y="3049920"/>
            <a:ext cx="154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Precision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24"/>
          <p:cNvSpPr/>
          <p:nvPr/>
        </p:nvSpPr>
        <p:spPr>
          <a:xfrm>
            <a:off x="3520440" y="2999160"/>
            <a:ext cx="2285640" cy="3286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5"/>
          <p:cNvSpPr/>
          <p:nvPr/>
        </p:nvSpPr>
        <p:spPr>
          <a:xfrm>
            <a:off x="3571200" y="3049920"/>
            <a:ext cx="218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Recall / Sensitivity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26"/>
          <p:cNvSpPr/>
          <p:nvPr/>
        </p:nvSpPr>
        <p:spPr>
          <a:xfrm>
            <a:off x="5852160" y="2999160"/>
            <a:ext cx="1645560" cy="3286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27"/>
          <p:cNvSpPr/>
          <p:nvPr/>
        </p:nvSpPr>
        <p:spPr>
          <a:xfrm>
            <a:off x="5902920" y="3049920"/>
            <a:ext cx="154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Specificity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28"/>
          <p:cNvSpPr/>
          <p:nvPr/>
        </p:nvSpPr>
        <p:spPr>
          <a:xfrm>
            <a:off x="7543800" y="2999160"/>
            <a:ext cx="1645560" cy="3286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9"/>
          <p:cNvSpPr/>
          <p:nvPr/>
        </p:nvSpPr>
        <p:spPr>
          <a:xfrm>
            <a:off x="7594560" y="3049920"/>
            <a:ext cx="154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F1-Score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30"/>
          <p:cNvSpPr/>
          <p:nvPr/>
        </p:nvSpPr>
        <p:spPr>
          <a:xfrm>
            <a:off x="9235440" y="2999160"/>
            <a:ext cx="1279800" cy="3286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31"/>
          <p:cNvSpPr/>
          <p:nvPr/>
        </p:nvSpPr>
        <p:spPr>
          <a:xfrm>
            <a:off x="9286200" y="3049920"/>
            <a:ext cx="117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32"/>
          <p:cNvSpPr/>
          <p:nvPr/>
        </p:nvSpPr>
        <p:spPr>
          <a:xfrm>
            <a:off x="320040" y="3346560"/>
            <a:ext cx="146268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33"/>
          <p:cNvSpPr/>
          <p:nvPr/>
        </p:nvSpPr>
        <p:spPr>
          <a:xfrm>
            <a:off x="370800" y="3422880"/>
            <a:ext cx="136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Car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34"/>
          <p:cNvSpPr/>
          <p:nvPr/>
        </p:nvSpPr>
        <p:spPr>
          <a:xfrm>
            <a:off x="1828800" y="3346560"/>
            <a:ext cx="164556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35"/>
          <p:cNvSpPr/>
          <p:nvPr/>
        </p:nvSpPr>
        <p:spPr>
          <a:xfrm>
            <a:off x="1879560" y="342288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93.61%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36"/>
          <p:cNvSpPr/>
          <p:nvPr/>
        </p:nvSpPr>
        <p:spPr>
          <a:xfrm>
            <a:off x="3520440" y="3346560"/>
            <a:ext cx="228564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37"/>
          <p:cNvSpPr/>
          <p:nvPr/>
        </p:nvSpPr>
        <p:spPr>
          <a:xfrm>
            <a:off x="3571200" y="3422880"/>
            <a:ext cx="218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97.60%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38"/>
          <p:cNvSpPr/>
          <p:nvPr/>
        </p:nvSpPr>
        <p:spPr>
          <a:xfrm>
            <a:off x="5852160" y="3346560"/>
            <a:ext cx="164556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39"/>
          <p:cNvSpPr/>
          <p:nvPr/>
        </p:nvSpPr>
        <p:spPr>
          <a:xfrm>
            <a:off x="5902920" y="342288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97.22%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40"/>
          <p:cNvSpPr/>
          <p:nvPr/>
        </p:nvSpPr>
        <p:spPr>
          <a:xfrm>
            <a:off x="7543800" y="3346560"/>
            <a:ext cx="164556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41"/>
          <p:cNvSpPr/>
          <p:nvPr/>
        </p:nvSpPr>
        <p:spPr>
          <a:xfrm>
            <a:off x="7594560" y="342288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95.56%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42"/>
          <p:cNvSpPr/>
          <p:nvPr/>
        </p:nvSpPr>
        <p:spPr>
          <a:xfrm>
            <a:off x="9235440" y="3346560"/>
            <a:ext cx="127980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43"/>
          <p:cNvSpPr/>
          <p:nvPr/>
        </p:nvSpPr>
        <p:spPr>
          <a:xfrm>
            <a:off x="9286200" y="3422880"/>
            <a:ext cx="1178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750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44"/>
          <p:cNvSpPr/>
          <p:nvPr/>
        </p:nvSpPr>
        <p:spPr>
          <a:xfrm>
            <a:off x="320040" y="3822120"/>
            <a:ext cx="146268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45"/>
          <p:cNvSpPr/>
          <p:nvPr/>
        </p:nvSpPr>
        <p:spPr>
          <a:xfrm>
            <a:off x="370800" y="3898440"/>
            <a:ext cx="136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Bus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46"/>
          <p:cNvSpPr/>
          <p:nvPr/>
        </p:nvSpPr>
        <p:spPr>
          <a:xfrm>
            <a:off x="1828800" y="3822120"/>
            <a:ext cx="164556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47"/>
          <p:cNvSpPr/>
          <p:nvPr/>
        </p:nvSpPr>
        <p:spPr>
          <a:xfrm>
            <a:off x="1879560" y="389844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99.60%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48"/>
          <p:cNvSpPr/>
          <p:nvPr/>
        </p:nvSpPr>
        <p:spPr>
          <a:xfrm>
            <a:off x="3520440" y="3822120"/>
            <a:ext cx="228564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49"/>
          <p:cNvSpPr/>
          <p:nvPr/>
        </p:nvSpPr>
        <p:spPr>
          <a:xfrm>
            <a:off x="3571200" y="3898440"/>
            <a:ext cx="218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98.93%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50"/>
          <p:cNvSpPr/>
          <p:nvPr/>
        </p:nvSpPr>
        <p:spPr>
          <a:xfrm>
            <a:off x="5852160" y="3822120"/>
            <a:ext cx="164556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51"/>
          <p:cNvSpPr/>
          <p:nvPr/>
        </p:nvSpPr>
        <p:spPr>
          <a:xfrm>
            <a:off x="5902920" y="389844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99.83%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52"/>
          <p:cNvSpPr/>
          <p:nvPr/>
        </p:nvSpPr>
        <p:spPr>
          <a:xfrm>
            <a:off x="7543800" y="3822120"/>
            <a:ext cx="164556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53"/>
          <p:cNvSpPr/>
          <p:nvPr/>
        </p:nvSpPr>
        <p:spPr>
          <a:xfrm>
            <a:off x="7594560" y="389844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99.26%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54"/>
          <p:cNvSpPr/>
          <p:nvPr/>
        </p:nvSpPr>
        <p:spPr>
          <a:xfrm>
            <a:off x="9235440" y="3822120"/>
            <a:ext cx="127980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55"/>
          <p:cNvSpPr/>
          <p:nvPr/>
        </p:nvSpPr>
        <p:spPr>
          <a:xfrm>
            <a:off x="9286200" y="3898440"/>
            <a:ext cx="1178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750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56"/>
          <p:cNvSpPr/>
          <p:nvPr/>
        </p:nvSpPr>
        <p:spPr>
          <a:xfrm>
            <a:off x="320040" y="4297680"/>
            <a:ext cx="146268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57"/>
          <p:cNvSpPr/>
          <p:nvPr/>
        </p:nvSpPr>
        <p:spPr>
          <a:xfrm>
            <a:off x="370800" y="4374000"/>
            <a:ext cx="136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Truck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58"/>
          <p:cNvSpPr/>
          <p:nvPr/>
        </p:nvSpPr>
        <p:spPr>
          <a:xfrm>
            <a:off x="1828800" y="4297680"/>
            <a:ext cx="164556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59"/>
          <p:cNvSpPr/>
          <p:nvPr/>
        </p:nvSpPr>
        <p:spPr>
          <a:xfrm>
            <a:off x="1879560" y="437400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95.92%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60"/>
          <p:cNvSpPr/>
          <p:nvPr/>
        </p:nvSpPr>
        <p:spPr>
          <a:xfrm>
            <a:off x="3520440" y="4297680"/>
            <a:ext cx="228564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61"/>
          <p:cNvSpPr/>
          <p:nvPr/>
        </p:nvSpPr>
        <p:spPr>
          <a:xfrm>
            <a:off x="3571200" y="4374000"/>
            <a:ext cx="218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93.87%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62"/>
          <p:cNvSpPr/>
          <p:nvPr/>
        </p:nvSpPr>
        <p:spPr>
          <a:xfrm>
            <a:off x="5852160" y="4297680"/>
            <a:ext cx="164556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63"/>
          <p:cNvSpPr/>
          <p:nvPr/>
        </p:nvSpPr>
        <p:spPr>
          <a:xfrm>
            <a:off x="5902920" y="437400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98.33%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64"/>
          <p:cNvSpPr/>
          <p:nvPr/>
        </p:nvSpPr>
        <p:spPr>
          <a:xfrm>
            <a:off x="7543800" y="4297680"/>
            <a:ext cx="164556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65"/>
          <p:cNvSpPr/>
          <p:nvPr/>
        </p:nvSpPr>
        <p:spPr>
          <a:xfrm>
            <a:off x="7594560" y="437400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94.89%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66"/>
          <p:cNvSpPr/>
          <p:nvPr/>
        </p:nvSpPr>
        <p:spPr>
          <a:xfrm>
            <a:off x="9235440" y="4297680"/>
            <a:ext cx="1279800" cy="456840"/>
          </a:xfrm>
          <a:prstGeom prst="rect">
            <a:avLst/>
          </a:prstGeom>
          <a:solidFill>
            <a:srgbClr val="F2F5F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67"/>
          <p:cNvSpPr/>
          <p:nvPr/>
        </p:nvSpPr>
        <p:spPr>
          <a:xfrm>
            <a:off x="9286200" y="4374000"/>
            <a:ext cx="1178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751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68"/>
          <p:cNvSpPr/>
          <p:nvPr/>
        </p:nvSpPr>
        <p:spPr>
          <a:xfrm>
            <a:off x="320040" y="4773240"/>
            <a:ext cx="146268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69"/>
          <p:cNvSpPr/>
          <p:nvPr/>
        </p:nvSpPr>
        <p:spPr>
          <a:xfrm>
            <a:off x="370800" y="4849200"/>
            <a:ext cx="136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Background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70"/>
          <p:cNvSpPr/>
          <p:nvPr/>
        </p:nvSpPr>
        <p:spPr>
          <a:xfrm>
            <a:off x="1828800" y="4773240"/>
            <a:ext cx="164556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71"/>
          <p:cNvSpPr/>
          <p:nvPr/>
        </p:nvSpPr>
        <p:spPr>
          <a:xfrm>
            <a:off x="1879560" y="484920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99.65%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72"/>
          <p:cNvSpPr/>
          <p:nvPr/>
        </p:nvSpPr>
        <p:spPr>
          <a:xfrm>
            <a:off x="3520440" y="4773240"/>
            <a:ext cx="228564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73"/>
          <p:cNvSpPr/>
          <p:nvPr/>
        </p:nvSpPr>
        <p:spPr>
          <a:xfrm>
            <a:off x="3571200" y="4849200"/>
            <a:ext cx="218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96.00%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74"/>
          <p:cNvSpPr/>
          <p:nvPr/>
        </p:nvSpPr>
        <p:spPr>
          <a:xfrm>
            <a:off x="5852160" y="4773240"/>
            <a:ext cx="164556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75"/>
          <p:cNvSpPr/>
          <p:nvPr/>
        </p:nvSpPr>
        <p:spPr>
          <a:xfrm>
            <a:off x="5902920" y="484920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99.96%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76"/>
          <p:cNvSpPr/>
          <p:nvPr/>
        </p:nvSpPr>
        <p:spPr>
          <a:xfrm>
            <a:off x="7543800" y="4773240"/>
            <a:ext cx="164556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77"/>
          <p:cNvSpPr/>
          <p:nvPr/>
        </p:nvSpPr>
        <p:spPr>
          <a:xfrm>
            <a:off x="7594560" y="4849200"/>
            <a:ext cx="1544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97.79%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78"/>
          <p:cNvSpPr/>
          <p:nvPr/>
        </p:nvSpPr>
        <p:spPr>
          <a:xfrm>
            <a:off x="9235440" y="4773240"/>
            <a:ext cx="127980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79"/>
          <p:cNvSpPr/>
          <p:nvPr/>
        </p:nvSpPr>
        <p:spPr>
          <a:xfrm>
            <a:off x="9286200" y="4849200"/>
            <a:ext cx="1178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300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80"/>
          <p:cNvSpPr/>
          <p:nvPr/>
        </p:nvSpPr>
        <p:spPr>
          <a:xfrm>
            <a:off x="0" y="6400800"/>
            <a:ext cx="1218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EPL 445 – Digital Video Processing  |  University of Cyprus, Spring 2026  |  Slide 5/8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81"/>
          <p:cNvSpPr/>
          <p:nvPr/>
        </p:nvSpPr>
        <p:spPr>
          <a:xfrm>
            <a:off x="0" y="6355080"/>
            <a:ext cx="12188520" cy="1872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2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2"/>
          <p:cNvSpPr/>
          <p:nvPr/>
        </p:nvSpPr>
        <p:spPr>
          <a:xfrm>
            <a:off x="0" y="0"/>
            <a:ext cx="12188520" cy="114300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Training Curves &amp; Performance Visualizations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228600" y="1069920"/>
            <a:ext cx="5668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Training Curves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Picture 4" descr="training_curves.png"/>
          <p:cNvPicPr/>
          <p:nvPr/>
        </p:nvPicPr>
        <p:blipFill>
          <a:blip r:embed="rId1"/>
          <a:stretch/>
        </p:blipFill>
        <p:spPr>
          <a:xfrm>
            <a:off x="228600" y="1371960"/>
            <a:ext cx="566892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Box 5"/>
          <p:cNvSpPr/>
          <p:nvPr/>
        </p:nvSpPr>
        <p:spPr>
          <a:xfrm>
            <a:off x="6263640" y="1069920"/>
            <a:ext cx="5668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Confusion Matrix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Picture 6" descr="confusion_matrix.png"/>
          <p:cNvPicPr/>
          <p:nvPr/>
        </p:nvPicPr>
        <p:blipFill>
          <a:blip r:embed="rId2"/>
          <a:stretch/>
        </p:blipFill>
        <p:spPr>
          <a:xfrm>
            <a:off x="6263640" y="1325880"/>
            <a:ext cx="566892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Box 7"/>
          <p:cNvSpPr/>
          <p:nvPr/>
        </p:nvSpPr>
        <p:spPr>
          <a:xfrm>
            <a:off x="228600" y="3649320"/>
            <a:ext cx="5668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ROC Curves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Picture 8" descr="roc_curves.png"/>
          <p:cNvPicPr/>
          <p:nvPr/>
        </p:nvPicPr>
        <p:blipFill>
          <a:blip r:embed="rId3"/>
          <a:stretch/>
        </p:blipFill>
        <p:spPr>
          <a:xfrm>
            <a:off x="228600" y="3886560"/>
            <a:ext cx="566892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Box 9"/>
          <p:cNvSpPr/>
          <p:nvPr/>
        </p:nvSpPr>
        <p:spPr>
          <a:xfrm>
            <a:off x="6263640" y="3649320"/>
            <a:ext cx="5668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Per-Class F1 Score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Picture 10" descr="per_class_f1.png"/>
          <p:cNvPicPr/>
          <p:nvPr/>
        </p:nvPicPr>
        <p:blipFill>
          <a:blip r:embed="rId4"/>
          <a:stretch/>
        </p:blipFill>
        <p:spPr>
          <a:xfrm>
            <a:off x="6263640" y="3886560"/>
            <a:ext cx="566892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Box 11"/>
          <p:cNvSpPr/>
          <p:nvPr/>
        </p:nvSpPr>
        <p:spPr>
          <a:xfrm>
            <a:off x="0" y="6400800"/>
            <a:ext cx="1218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EPL 445 – Digital Video Processing  |  University of Cyprus, Spring 2026  |  Slide 6/8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12"/>
          <p:cNvSpPr/>
          <p:nvPr/>
        </p:nvSpPr>
        <p:spPr>
          <a:xfrm>
            <a:off x="0" y="6355080"/>
            <a:ext cx="12188520" cy="1872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Video Inference Pipeline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3"/>
          <p:cNvSpPr/>
          <p:nvPr/>
        </p:nvSpPr>
        <p:spPr>
          <a:xfrm>
            <a:off x="274320" y="1417320"/>
            <a:ext cx="11521080" cy="776880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4"/>
          <p:cNvSpPr/>
          <p:nvPr/>
        </p:nvSpPr>
        <p:spPr>
          <a:xfrm>
            <a:off x="457200" y="14814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05000"/>
                </a:solidFill>
                <a:effectLst/>
                <a:uFillTx/>
                <a:latin typeface="Calibri"/>
              </a:rPr>
              <a:t>Challenge: MobileViT is a patch classifier (trained on cropped objects). Applying it directly to full-resolution video frames yields poor localisation.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5"/>
          <p:cNvSpPr/>
          <p:nvPr/>
        </p:nvSpPr>
        <p:spPr>
          <a:xfrm>
            <a:off x="320040" y="2403000"/>
            <a:ext cx="319680" cy="31968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6"/>
          <p:cNvSpPr/>
          <p:nvPr/>
        </p:nvSpPr>
        <p:spPr>
          <a:xfrm>
            <a:off x="777240" y="237744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1. Frame Extraction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7"/>
          <p:cNvSpPr/>
          <p:nvPr/>
        </p:nvSpPr>
        <p:spPr>
          <a:xfrm>
            <a:off x="777240" y="267912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Video decoded frame-by-frame at 5 fps using OpenCV.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8"/>
          <p:cNvSpPr/>
          <p:nvPr/>
        </p:nvSpPr>
        <p:spPr>
          <a:xfrm>
            <a:off x="320040" y="3289680"/>
            <a:ext cx="319680" cy="31968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9"/>
          <p:cNvSpPr/>
          <p:nvPr/>
        </p:nvSpPr>
        <p:spPr>
          <a:xfrm>
            <a:off x="777240" y="326448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2. Multi-Scale Sliding Window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777240" y="35661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Windows of 3 sizes (128, 192, 256 px) stride across each frame. Each patch is resized to 224 × 224 and fed to the MobileViT classifier.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11"/>
          <p:cNvSpPr/>
          <p:nvPr/>
        </p:nvSpPr>
        <p:spPr>
          <a:xfrm>
            <a:off x="320040" y="4176720"/>
            <a:ext cx="319680" cy="31968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2"/>
          <p:cNvSpPr/>
          <p:nvPr/>
        </p:nvSpPr>
        <p:spPr>
          <a:xfrm>
            <a:off x="777240" y="41515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3. Non-Maximum Suppression (NMS)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3"/>
          <p:cNvSpPr/>
          <p:nvPr/>
        </p:nvSpPr>
        <p:spPr>
          <a:xfrm>
            <a:off x="777240" y="445320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Overlapping windows for the same class are merged using IoU threshold 0.45, retaining the highest-confidence detection.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14"/>
          <p:cNvSpPr/>
          <p:nvPr/>
        </p:nvSpPr>
        <p:spPr>
          <a:xfrm>
            <a:off x="320040" y="5063760"/>
            <a:ext cx="319680" cy="31968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777240" y="503820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4. Aggregation &amp;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6"/>
          <p:cNvSpPr/>
          <p:nvPr/>
        </p:nvSpPr>
        <p:spPr>
          <a:xfrm>
            <a:off x="777240" y="534024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Per-frame class counts written to frame_predictions.csv. Aggregated totals → class_counts.json. Annotated bounding boxes rendered to annotated_output.mp4.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17"/>
          <p:cNvSpPr/>
          <p:nvPr/>
        </p:nvSpPr>
        <p:spPr>
          <a:xfrm>
            <a:off x="274320" y="5897880"/>
            <a:ext cx="11521080" cy="38376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18"/>
          <p:cNvSpPr/>
          <p:nvPr/>
        </p:nvSpPr>
        <p:spPr>
          <a:xfrm>
            <a:off x="457200" y="5925240"/>
            <a:ext cx="11155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Result: 1,947 detections over a 60-second test video  |  Per-frame density estimates computed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9"/>
          <p:cNvSpPr/>
          <p:nvPr/>
        </p:nvSpPr>
        <p:spPr>
          <a:xfrm>
            <a:off x="0" y="6400800"/>
            <a:ext cx="1218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EPL 445 – Digital Video Processing  |  University of Cyprus, Spring 2026  |  Slide 7/8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20"/>
          <p:cNvSpPr/>
          <p:nvPr/>
        </p:nvSpPr>
        <p:spPr>
          <a:xfrm>
            <a:off x="0" y="6355080"/>
            <a:ext cx="12188520" cy="1872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2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ectangle 2"/>
          <p:cNvSpPr/>
          <p:nvPr/>
        </p:nvSpPr>
        <p:spPr>
          <a:xfrm>
            <a:off x="0" y="0"/>
            <a:ext cx="12188520" cy="1234080"/>
          </a:xfrm>
          <a:prstGeom prst="rect">
            <a:avLst/>
          </a:prstGeom>
          <a:solidFill>
            <a:srgbClr val="003A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Next Steps — Final Presentation (25 May 2026)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3"/>
          <p:cNvSpPr/>
          <p:nvPr/>
        </p:nvSpPr>
        <p:spPr>
          <a:xfrm>
            <a:off x="274320" y="1417320"/>
            <a:ext cx="11429640" cy="1023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ectangle 4"/>
          <p:cNvSpPr/>
          <p:nvPr/>
        </p:nvSpPr>
        <p:spPr>
          <a:xfrm>
            <a:off x="320040" y="1764720"/>
            <a:ext cx="109440" cy="10944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5"/>
          <p:cNvSpPr/>
          <p:nvPr/>
        </p:nvSpPr>
        <p:spPr>
          <a:xfrm>
            <a:off x="530280" y="14806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Detection Upgrade: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6"/>
          <p:cNvSpPr/>
          <p:nvPr/>
        </p:nvSpPr>
        <p:spPr>
          <a:xfrm>
            <a:off x="2880360" y="1480680"/>
            <a:ext cx="8686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Replace sliding-window with YOLOv8-nano as a pre-processor.  Extract bounding boxes first, then pass each crop to MobileViT classifier.  Expected: &gt;10× speed-up on full-resolution video.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7"/>
          <p:cNvSpPr/>
          <p:nvPr/>
        </p:nvSpPr>
        <p:spPr>
          <a:xfrm>
            <a:off x="274320" y="2532960"/>
            <a:ext cx="11429640" cy="1023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8"/>
          <p:cNvSpPr/>
          <p:nvPr/>
        </p:nvSpPr>
        <p:spPr>
          <a:xfrm>
            <a:off x="320040" y="2880360"/>
            <a:ext cx="109440" cy="10944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9"/>
          <p:cNvSpPr/>
          <p:nvPr/>
        </p:nvSpPr>
        <p:spPr>
          <a:xfrm>
            <a:off x="530280" y="25963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Tracking Engine: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0"/>
          <p:cNvSpPr/>
          <p:nvPr/>
        </p:nvSpPr>
        <p:spPr>
          <a:xfrm>
            <a:off x="2880360" y="2596320"/>
            <a:ext cx="8686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Integrate SORT / ByteTrack to assign persistent IDs across frames.  Eliminates double-counting; enables time-series occupancy curves.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11"/>
          <p:cNvSpPr/>
          <p:nvPr/>
        </p:nvSpPr>
        <p:spPr>
          <a:xfrm>
            <a:off x="274320" y="3648600"/>
            <a:ext cx="11429640" cy="1023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ectangle 12"/>
          <p:cNvSpPr/>
          <p:nvPr/>
        </p:nvSpPr>
        <p:spPr>
          <a:xfrm>
            <a:off x="320040" y="3996000"/>
            <a:ext cx="109440" cy="10944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13"/>
          <p:cNvSpPr/>
          <p:nvPr/>
        </p:nvSpPr>
        <p:spPr>
          <a:xfrm>
            <a:off x="530280" y="3711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Web Dashboard: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4"/>
          <p:cNvSpPr/>
          <p:nvPr/>
        </p:nvSpPr>
        <p:spPr>
          <a:xfrm>
            <a:off x="2880360" y="3711960"/>
            <a:ext cx="8686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FastAPI or Streamlit interface: upload video, view live counts per class.  ROI-based lane counting; density heat-maps; export to JSON/CSV.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15"/>
          <p:cNvSpPr/>
          <p:nvPr/>
        </p:nvSpPr>
        <p:spPr>
          <a:xfrm>
            <a:off x="274320" y="4763880"/>
            <a:ext cx="11429640" cy="1023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16"/>
          <p:cNvSpPr/>
          <p:nvPr/>
        </p:nvSpPr>
        <p:spPr>
          <a:xfrm>
            <a:off x="320040" y="5111640"/>
            <a:ext cx="109440" cy="10944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17"/>
          <p:cNvSpPr/>
          <p:nvPr/>
        </p:nvSpPr>
        <p:spPr>
          <a:xfrm>
            <a:off x="530280" y="48276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3A70"/>
                </a:solidFill>
                <a:effectLst/>
                <a:uFillTx/>
                <a:latin typeface="Calibri"/>
              </a:rPr>
              <a:t>Real-Time Support: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8"/>
          <p:cNvSpPr/>
          <p:nvPr/>
        </p:nvSpPr>
        <p:spPr>
          <a:xfrm>
            <a:off x="2880360" y="4827600"/>
            <a:ext cx="8686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RTSP stream ingestion for live traffic camera integration.  Target latency: &lt;200 ms/frame on GPU.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19"/>
          <p:cNvSpPr/>
          <p:nvPr/>
        </p:nvSpPr>
        <p:spPr>
          <a:xfrm>
            <a:off x="274320" y="5943600"/>
            <a:ext cx="11521080" cy="347040"/>
          </a:xfrm>
          <a:prstGeom prst="rect">
            <a:avLst/>
          </a:prstGeom>
          <a:solidFill>
            <a:srgbClr val="1A8A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21"/>
          <p:cNvSpPr/>
          <p:nvPr/>
        </p:nvSpPr>
        <p:spPr>
          <a:xfrm>
            <a:off x="0" y="6400800"/>
            <a:ext cx="1218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88"/>
                </a:solidFill>
                <a:effectLst/>
                <a:uFillTx/>
                <a:latin typeface="Calibri"/>
              </a:rPr>
              <a:t>EPL 445 – Digital Video Processing  |  University of Cyprus, Spring 2026  |  Slide 8/8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22"/>
          <p:cNvSpPr/>
          <p:nvPr/>
        </p:nvSpPr>
        <p:spPr>
          <a:xfrm>
            <a:off x="0" y="6355080"/>
            <a:ext cx="12188520" cy="18720"/>
          </a:xfrm>
          <a:prstGeom prst="rect">
            <a:avLst/>
          </a:prstGeom>
          <a:solidFill>
            <a:srgbClr val="008B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2026-04-20T12:14:51Z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