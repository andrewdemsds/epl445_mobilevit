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MobileViT for Real-Time Traffic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1">
                <a:solidFill>
                  <a:srgbClr val="008BD0"/>
                </a:solidFill>
              </a:rPr>
              <a:t>A Web-Based Classification, Detection, and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Final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749039"/>
            <a:ext cx="5760720" cy="2540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Andreas Demosthenous  &amp;  Marios Olympios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008BD0"/>
                </a:solidFill>
              </a:rPr>
              <a:t>EPL 445 – Digital Video Processing  |  University of Cyprus  |  25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9144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3A70"/>
                </a:solidFill>
              </a:rPr>
              <a:t>1.  Problem and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57400"/>
            <a:ext cx="9144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3A70"/>
                </a:solidFill>
              </a:rPr>
              <a:t>2.  Dataset and pre-processing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9144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3A70"/>
                </a:solidFill>
              </a:rPr>
              <a:t>3.  MobileViT classifier and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80"/>
            <a:ext cx="9144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3A70"/>
                </a:solidFill>
              </a:rPr>
              <a:t>4.  Detection pipeline: sliding window vs YOLO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9144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3A70"/>
                </a:solidFill>
              </a:rPr>
              <a:t>5.  Tracking (SORT) and per-lane counting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9144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3A70"/>
                </a:solidFill>
              </a:rPr>
              <a:t>6.  Web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00600"/>
            <a:ext cx="9144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3A70"/>
                </a:solidFill>
              </a:rPr>
              <a:t>7.  Quantitative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49240"/>
            <a:ext cx="9144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3A70"/>
                </a:solidFill>
              </a:rPr>
              <a:t>8.  Live demo, discussion, and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Live vehicle counts feed digital-twin traffic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493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Scientific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93520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Can a lightweight vision transformer classify traffic patches accurately enough to power a real-time, web-based per-lane counting dashboard on integrated graphics?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87752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360" y="266395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Why MobileViT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63952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5.6 M parameters, ImageNet-pretrained, combines convolution with self-attention. Fits in 8 GB shared VRAM where ViT-base does not.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58184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60" y="383438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Why hybrid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834384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MobileViT outputs class probabilities, not boxes. We pair it with YOLOv8-nano for tight proposals and keep the bespoke 4-class decision (car, bus, truck, background) on the classifier.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28616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360" y="5004816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End-to-end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004816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FastAPI dashboard with video upload, per-lane polygon ROI, density timeline, cross-frame tracking, and live H.264 playback — runs from a single uvicorn command.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Dataset and Pre-processing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UA-DETRAC, 4 classes, sequence-disjoint splits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8521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03A70"/>
                </a:solidFill>
              </a:rPr>
              <a:t>Source: </a:t>
            </a:r>
            <a:r>
              <a:rPr sz="1200">
                <a:solidFill>
                  <a:srgbClr val="333333"/>
                </a:solidFill>
              </a:rPr>
              <a:t>UA-DETRAC via Kaggle mirror (~140 K annotated frames, 100 surveillance sequences).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3A70"/>
                </a:solidFill>
              </a:rPr>
              <a:t>Crops: </a:t>
            </a:r>
            <a:r>
              <a:rPr sz="1200">
                <a:solidFill>
                  <a:srgbClr val="333333"/>
                </a:solidFill>
              </a:rPr>
              <a:t>Every bounding box larger than 32x32 px, capped at 5 000 per class, ~475 K total.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3A70"/>
                </a:solidFill>
              </a:rPr>
              <a:t>Label map: </a:t>
            </a:r>
            <a:r>
              <a:rPr sz="1200">
                <a:solidFill>
                  <a:srgbClr val="333333"/>
                </a:solidFill>
              </a:rPr>
              <a:t>car -&gt; car, bus -&gt; bus, van -&gt; truck, others -&gt; truck. Negatives sampled from frame corners.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3A70"/>
                </a:solidFill>
              </a:rPr>
              <a:t>Pre-processing: </a:t>
            </a:r>
            <a:r>
              <a:rPr sz="1200">
                <a:solidFill>
                  <a:srgbClr val="333333"/>
                </a:solidFill>
              </a:rPr>
              <a:t>Resize to 256x256, ImageNet normalisation, horizontal flip, +-10 deg rotation, colour jitter.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3A70"/>
                </a:solidFill>
              </a:rPr>
              <a:t>Splits: </a:t>
            </a:r>
            <a:r>
              <a:rPr sz="1200">
                <a:solidFill>
                  <a:srgbClr val="333333"/>
                </a:solidFill>
              </a:rPr>
              <a:t>70/15/15 by SEQUENCE ID (MVI_xxxxx) so no frame leaks across train/val/test.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3A70"/>
                </a:solidFill>
              </a:rPr>
              <a:t>Leakage fix: </a:t>
            </a:r>
            <a:r>
              <a:rPr sz="1200">
                <a:solidFill>
                  <a:srgbClr val="333333"/>
                </a:solidFill>
              </a:rPr>
              <a:t>Initial random splits inflated accuracy to ~99%. Sequence-level splits dropped accuracy to an honest 96%+ — same model, real generalisation.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3A70"/>
                </a:solidFill>
              </a:rPr>
              <a:t>Class distribution (after balancing)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011680"/>
            <a:ext cx="5120640" cy="50292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87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087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5 000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8920"/>
            <a:ext cx="5120640" cy="50292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865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865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~3 200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566160"/>
            <a:ext cx="5120640" cy="50292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642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truck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642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5 000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343400"/>
            <a:ext cx="5120640" cy="50292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419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419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~2 000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MobileViT-S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Mehta &amp; Rastegari, ICLR 2022 — light-weight, mobile-friendly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737360" cy="201168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306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Conv 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3x3 conv, downsample to 128x128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59" y="1554480"/>
            <a:ext cx="1737360" cy="20116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6306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MV2 block x3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2057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Inverted residuals, depthwise conv, channels x2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554480"/>
            <a:ext cx="1737360" cy="2011680"/>
          </a:xfrm>
          <a:prstGeom prst="rect">
            <a:avLst/>
          </a:prstGeom>
          <a:solidFill>
            <a:srgbClr val="1A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6306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MobileViT block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057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Local conv -&gt; patch attention -&gt; fold 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199" y="1554480"/>
            <a:ext cx="1737360" cy="2011680"/>
          </a:xfrm>
          <a:prstGeom prst="rect">
            <a:avLst/>
          </a:prstGeom>
          <a:solidFill>
            <a:srgbClr val="1A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16306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MobileViT block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39" y="2057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192 channels, 4 transformer layers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554480"/>
            <a:ext cx="1737360" cy="2011680"/>
          </a:xfrm>
          <a:prstGeom prst="rect">
            <a:avLst/>
          </a:prstGeom>
          <a:solidFill>
            <a:srgbClr val="1A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6306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MobileViT block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057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240 channels, 3 transformer layers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554480"/>
            <a:ext cx="1737360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6306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057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Global avg pool -&gt; linear (4 classes)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5.6 M parameters total. Roughly 4 times smaller than ResNet-50 with similar accuracy on UA-DETRAC patches.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Convolutional stages capture local texture (vehicle parts) — transformer blocks model global context within the crop.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Pretrained on ImageNet via timm. Fine-tuned 15 epochs on traffic patches.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Fits in 8 GB shared VRAM on the AMD Radeon 780M iGPU. Trains with batch size 4.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Training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Two-phase fine-tuning, AdamW, cosine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493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Optimiser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93520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AdamW with learning rate 3e-4 and weight decay 1e-4. Scheduler: cosine annealing over 15 epochs.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360" y="2453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Two 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53640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Phase 1 (epochs 1-3): backbone frozen, classifier head trains. Phase 2 (epochs 4-15): backbone unfrozen, lr reduced by 10x.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60" y="3413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413760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Class-weighted cross-entropy (background and bus under-represented after the per-class cap).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360" y="4373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373880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AMD Radeon 780M iGPU, ROCm 7.2, HSA_OVERRIDE_GFX_VERSION=11.0.0. Batch size 4 due to 8 GB shared VRAM.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360" y="5334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334000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Early stopping on macro F1, patience 5. Best val macro F1 = 0.9807 at epoch 13.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Detection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Sliding-window baseline -&gt; YOLOv8-nano + MobileViT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4754880"/>
          </a:xfrm>
          <a:prstGeom prst="rect">
            <a:avLst/>
          </a:prstGeom>
          <a:solidFill>
            <a:srgbClr val="F2F5F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Multi-scale sliding window (Interim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Three window sizes: 120, 180, 256 px, 50% stride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Every tile classified by MobileViT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Per-class greedy NMS, IoU = 0.3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~3 fps on 640x360 frames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Overlapping detections, many background tiles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577840" cy="4754880"/>
          </a:xfrm>
          <a:prstGeom prst="rect">
            <a:avLst/>
          </a:prstGeom>
          <a:solidFill>
            <a:srgbClr val="F2F5F9"/>
          </a:solidFill>
          <a:ln w="19050">
            <a:solidFill>
              <a:srgbClr val="1A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8A42"/>
                </a:solidFill>
              </a:rPr>
              <a:t>YOLOv8-nano + MobileViT (Final)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YOLO emits ~one tight box per vehicle (COCO 2/3/5/7)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MobileViT classifies each crop in the 4-class taxonomy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Boxes labelled background are discarded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~4 fps steady-state on the same hardware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Single box per object, far fewer duplicates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Same MobileViT backbone reused — no retraining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Cross-Frame Tracking (SORT)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Bewley et al., ICIP 2016 — IoU-association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493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Association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93520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Per-frame detections matched to existing trackers by IoU. Unmatched detections spawn new trackers; trackers without confirmation for max_age = 5 frames retire.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360" y="265480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Confirmation gating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54808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min_hits = 2 before a track is reported, suppressing single-frame false positives.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39896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60" y="3816096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CSV instrumentation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816096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Each detection row gets a track_id column. aggregate_counts emits unique_vehicles_by_class alongside raw detection counts.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01184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360" y="497738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Demo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977384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Raw detections over-count: each vehicle appears in N frames. With SORT, the dashboard shows the underlying number of unique vehicles, which is what a digital twin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Per-Lane Counting and 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Polygon ROIs + FastAPI + vanilla HTML/JS, no build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360" y="1493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Polygon ROIs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93520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Operator draws closed polygons on the first frame. Backend tests detection-centre membership with OpenCV pointPolygonTest. No re-inference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360" y="265480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54808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POST /jobs (upload), GET /jobs/{id}/counts | /timeline | /video | /frame, POST /jobs/{id}/lanes (per-lane), POST /jobs/{id}/roi (rectangle).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39896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60" y="3816096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816096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Single index.html + app.js + style.css. Chart.js via CDN for bar and line charts. HTML5 canvas for ROI and lane editing.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01184"/>
            <a:ext cx="11338560" cy="105156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360" y="497738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Robustness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977384"/>
            <a:ext cx="85953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OpenCV writes mp4v which browsers cannot decode. The /video endpoint lazily re-encodes to H.264 (libx264, yuv420p, +faststart) and the worker pre-warms it after each job.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FastAPI + vanilla HTML/JS, no build step</a:t>
            </a:r>
          </a:p>
        </p:txBody>
      </p:sp>
      <p:pic>
        <p:nvPicPr>
          <p:cNvPr id="5" name="Picture 4" descr="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17320"/>
            <a:ext cx="1673953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4630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Drag-and-drop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MP4 in, background inference starts, progress bar polls every 3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957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Annotated H.264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8833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Lazily re-encoded from OpenCV mp4v so it plays in-browser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28416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Counts and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2102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Bar chart + density line chart via Chart.js (CDN, no build)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61104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Rectangle and polygon ROIs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537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Filter detections by region or split into per-lane polygons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Past jobs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486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Click to re-open any prior 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Results — Classification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Sequence-disjoint test set, 2 614 patches, 16 unseen 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194560" cy="1005840"/>
          </a:xfrm>
          <a:prstGeom prst="rect">
            <a:avLst/>
          </a:prstGeom>
          <a:solidFill>
            <a:srgbClr val="1A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39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96.44%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63040"/>
            <a:ext cx="2194560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539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MACRO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830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95.90%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463040"/>
            <a:ext cx="2194560" cy="10058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539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MACRO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830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99.59%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463040"/>
            <a:ext cx="219456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539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VAL F1 (best)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7830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0.9807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4320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3A70"/>
                </a:solidFill>
              </a:rPr>
              <a:t>Per-class breakdown: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2194560" cy="4114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76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200400"/>
            <a:ext cx="2286000" cy="4114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276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200400"/>
            <a:ext cx="2286000" cy="4114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76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200400"/>
            <a:ext cx="2286000" cy="4114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276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Specificity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3200400"/>
            <a:ext cx="2286000" cy="4114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3276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1188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675380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car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61188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3675380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61188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3675380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0.929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361188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3675380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0.992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361188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3675380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0.944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995928"/>
            <a:ext cx="219456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05942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bus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995928"/>
            <a:ext cx="228600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405942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0.992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995928"/>
            <a:ext cx="228600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05942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0.974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3995928"/>
            <a:ext cx="228600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405942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0.994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3995928"/>
            <a:ext cx="228600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405942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0.983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37997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443476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truck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437997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0" y="444347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37997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444347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0.963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437997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0" y="444347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0.977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437997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20" y="444347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764024"/>
            <a:ext cx="219456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4827524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background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4764024"/>
            <a:ext cx="228600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0" y="482752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0.939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46320" y="4764024"/>
            <a:ext cx="228600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0" y="482752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0.980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4764024"/>
            <a:ext cx="228600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0" y="482752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4764024"/>
            <a:ext cx="2286000" cy="384048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18320" y="482752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548640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</a:rPr>
              <a:t>Bus is easiest (large, distinctive). Car is hardest — confused with truck at distance.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Results — Confusion Matrix and ROC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669280" cy="4960620"/>
          </a:xfrm>
          <a:prstGeom prst="rect">
            <a:avLst/>
          </a:prstGeom>
        </p:spPr>
      </p:pic>
      <p:pic>
        <p:nvPicPr>
          <p:cNvPr id="5" name="Picture 4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4960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333333"/>
                </a:solidFill>
              </a:rPr>
              <a:t>Mistakes concentrate on the car ↔ truck boundary. All four ROC curves crowd the top-left corner.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Results — Training Curves and Density Over Time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669280" cy="2024743"/>
          </a:xfrm>
          <a:prstGeom prst="rect">
            <a:avLst/>
          </a:prstGeom>
        </p:spPr>
      </p:pic>
      <p:pic>
        <p:nvPicPr>
          <p:cNvPr id="5" name="Picture 4" descr="density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2362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333333"/>
                </a:solidFill>
              </a:rPr>
              <a:t>Backbone unfreezes at epoch 4 — clear inflection. Density peaks correspond to platoon arrivals.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Speed / Accuracy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887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008BD0"/>
                </a:solidFill>
              </a:rPr>
              <a:t>  MobileViT classifier on AMD Radeon 780M (iGPU)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2011680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72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Input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011680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72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Latency (ms)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645920"/>
            <a:ext cx="2011680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772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45920"/>
            <a:ext cx="3383280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729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945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321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128 x 128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945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321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~5 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21945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321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94.5%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194560"/>
            <a:ext cx="3383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321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Edge / battery-constrained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743200"/>
            <a:ext cx="2011680" cy="548640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2870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192 x 192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743200"/>
            <a:ext cx="2011680" cy="548640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870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~7 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743200"/>
            <a:ext cx="2011680" cy="548640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870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95.8%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743200"/>
            <a:ext cx="3383280" cy="548640"/>
          </a:xfrm>
          <a:prstGeom prst="rect">
            <a:avLst/>
          </a:prstGeom>
          <a:solidFill>
            <a:srgbClr val="F2F5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8702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Real-time stream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2918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4188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256 x 256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2918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34188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~13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2918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34188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96.44%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291840"/>
            <a:ext cx="3383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4188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Production (default)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5720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End-to-end pipeline (YOLO + MobileViT + SORT + annotation): ~4 fps on 4K frames downscaled to 640x360 for inference, vs ~3 fps for the sliding-window baseline. First-frame YOLO compile adds a one-off ~15 s warmup.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Discussion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7360" y="1493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What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93520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Decoupling detection from classification: YOLO emits high-quality boxes from COCO pretraining; MobileViT handles the bespoke 4-class decision with the background filter.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68296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60" y="2444496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Why MobileViT, not ResNet-50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44496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Roughly 4x smaller, comparable accuracy on UA-DETRAC, fits in 8 GB shared VRAM. Self-attention helps with partial occlusion.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19272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60" y="339547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Limitation: no temporal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395472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SORT only does IoU association. Full mutual occlusion collapses two tracks into one — a problem for dense intersections.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70248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60" y="434644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Limitation: motorcycles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346448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Our 4 classes do not include motorcycles. YOLO class-3 boxes get pushed through MobileViT, which usually labels them car or background.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21224"/>
            <a:ext cx="1133856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60" y="529742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Limitation: iGPU batch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297424"/>
            <a:ext cx="85953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AMD Radeon 780M with 8 GB shared VRAM forces batch size 4 in training. A discrete GPU would lift this and speed up training 3-4 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 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77724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7360" y="1539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ByteTrack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539240"/>
            <a:ext cx="859536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Stronger association for longer occlusions, with re-identification embedding.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11338560" cy="77724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60" y="24079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Motion-guided sliding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07920"/>
            <a:ext cx="859536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Restrict the fallback sliding window to motion masks from frame differencing.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11338560" cy="77724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60" y="32766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End-to-end YOLO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76600"/>
            <a:ext cx="859536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Fine-tune YOLOv8 on UA-DETRAC for an apples-to-apples speed-accuracy comparison against the hybrid.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69080"/>
            <a:ext cx="11338560" cy="77724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60" y="41452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INT8 quantisation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145280"/>
            <a:ext cx="859536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ONNX export + INT8 quantisation for Jetson Nano-class edge deployment.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338560" cy="77724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60" y="5013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</a:rPr>
              <a:t>Temporal voting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013960"/>
            <a:ext cx="859536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Aggregate MobileViT predictions across short sliding windows of tracker frames for stable per-vehicle labels.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73152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1">
                <a:solidFill>
                  <a:srgbClr val="008BD0"/>
                </a:solidFill>
              </a:rPr>
              <a:t>uvicorn src.app.main:app  →  http://localhost:8000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6616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1.  Upload sample_traffic.mp4 (or stream from webcam)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69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2.  Watch live progress, then the annotated H.264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3.  Inspect per-class bar chart + density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749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4.  Draw two polygon lanes on the first frame — show per-lane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7784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5.  Toggle to sliding-window detector for the speed 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1">
                <a:solidFill>
                  <a:srgbClr val="008BD0"/>
                </a:solidFill>
              </a:rPr>
              <a:t>Andreas Demosthenous &amp; Marios Olympios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{ademos05, molymp01}@ucy.ac.cy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Repository: github.com/AndrewDemsDS/EPL445_MobileViT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88952" cy="1905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88"/>
                </a:solidFill>
              </a:rPr>
              <a:t>EPL 445 – Digital Video Processing  |  University of Cyprus  |  Final Presentation, 25 May 2026  |  Slide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