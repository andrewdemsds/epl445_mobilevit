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C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07797-2884-4C67-86AB-E2891487F4CB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B8265D-3217-46E6-A807-BECCC464CC24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58997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F55E3-C30E-5AC2-DCF2-54671523D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9BEE6-B2EC-45B8-1353-3B0D93335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7C2E-C1D1-F036-FE27-C53E8E90E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C544F-0CD7-524B-CE0E-0A17E8D5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65EEE8-77A2-BFF7-193A-8D64A75E2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924980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4E7C-DC5B-9D3C-8BE5-D466E2BDE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44E13-94B5-5E66-3A12-AE5CCD238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768CF-E0D0-D32B-E6B8-C3D4F63A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BEDA8-6C5E-6BED-4516-FCBCF9C46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5E660-57EE-CA3D-6E14-02849A61E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22972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05A0-61F5-6C1A-CE4C-F2CA5A362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FF270-EADE-A431-810D-D321800AFF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07D9A-B21B-8B01-BDFB-FC21FD078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88038-05BE-9099-0926-BE327692E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C7B62-11D1-9A8C-3C23-F545D3210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89303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4C74C-CCC1-CBAC-DAEE-B568A9A35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6CD08-7276-C53F-036A-D362D36BD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57B5-08C3-ADF8-2FEB-EBC6990448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B3E2C-C37F-8687-DA85-AED96138D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37B05-2DE2-FDE0-5BF3-7465FDF60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A2702-57B6-EF78-CD7C-B052AE62D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580750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102F5-F2C5-BADA-61DB-F25C9E962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37705-320B-D012-ABBB-70A0F737D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F2544-2AB0-361F-F0F0-C3BD6FF8DC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38B4D3-F754-7FED-FCC0-A64E76C805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DAF358-EF8A-1196-CE2E-6DD7904FD7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1AD2CF-5F02-A974-776C-B0F5F3F79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6BE3BD-D8AF-B517-896F-B9AD218D5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DAA4E6-01DA-7A35-FB65-E90DF46DC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30932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13D7F-59D8-C037-EB1B-0AED8FD1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9DFABA-CDC2-CB85-CE16-C581825E4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47B9BF-57D3-BC49-DCE1-7C8F6E13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663ED-0BE1-E8D9-C872-932BCA997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878774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DF76C8-F71D-9D1E-4DED-BB7342FB4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8ED2E7-20B2-FB25-57C0-E4885CBA7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554D9-C889-7573-E41B-A60822CB1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937678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86650-AF44-3367-2825-6A3D91BAB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2B80F-E2F6-BADB-54C3-9F64A935C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6AA25-EB42-E07E-CDA1-496EA45B08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6424AE-310D-3E0F-775F-0AEA6AEF8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20A2E0-20B0-3F27-FA8E-FEEF142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CB04DE-85CC-D207-0E8E-5936A6214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481354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A78D6-B6D8-2161-0F1B-430B88CC9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35D44C-17B2-0A6B-8220-DA04D34966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3004B-C6D8-0BA1-2B95-E4896661E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9E254-D1C0-D1B7-BAF4-9C8D63AE4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4439E1-7D52-9E84-FEFB-FFFFFAD5B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8C94B-325D-2C16-9330-0D61EEDFB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19921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B339C-B4AC-F073-D960-E1EC35076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8968E-6241-E76D-0DF0-698AB4064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BE264-BE14-B1EB-1417-31AB2AC54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3944B-368C-FE9C-DCA2-1C3898B1B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CBC5-3C2C-9CD5-98BB-AB8AE9E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4228920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22026A-B34B-19A4-1F5E-75CD6AB138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1B78D-2904-BB3D-998E-AEA20A6A2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B0DEE-AF07-411F-DE79-53B5CD3EB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CC2A4-94C1-B6FE-1685-2FA12412A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BF7FF7-B2F9-45F9-91A4-279F65DD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7436684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2789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DA34B4-660C-4429-6FC9-8CED3D84E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6CDF1-9311-DD59-CF75-B966CDBB4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07F81-7BEC-FA00-8B56-2B4F7FE7C8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F1F3D-A02F-42C0-90F6-B32B97A9C418}" type="datetimeFigureOut">
              <a:rPr lang="en-CY" smtClean="0"/>
              <a:t>25/05/2026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4908D-4480-0B92-CE8A-61244E1DE3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D5851-B11D-724A-9D3A-EA2F869BE1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BEACC-008F-4415-A243-F6A6F54200E1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41198546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Y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85800"/>
            <a:ext cx="1600200" cy="310896"/>
          </a:xfrm>
          <a:prstGeom prst="rect">
            <a:avLst/>
          </a:prstGeom>
          <a:solidFill>
            <a:srgbClr val="3EE7D9">
              <a:alpha val="90000"/>
            </a:srgbClr>
          </a:solidFill>
          <a:ln>
            <a:solidFill>
              <a:srgbClr val="3EE7D9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7121F"/>
                </a:solidFill>
              </a:rPr>
              <a:t>FINAL PRESENTATION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21792" y="1325880"/>
            <a:ext cx="7223760" cy="11704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MobileViT for Real-Time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Traffic Monitoring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67512" y="2761488"/>
            <a:ext cx="713232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EE7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Web-Based Classification, Detection, and Tracking System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977640"/>
            <a:ext cx="1463040" cy="877824"/>
          </a:xfrm>
          <a:prstGeom prst="rect">
            <a:avLst/>
          </a:prstGeom>
          <a:solidFill>
            <a:srgbClr val="20314D"/>
          </a:solidFill>
          <a:ln>
            <a:solidFill>
              <a:srgbClr val="00C2FF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5.6M
</a:t>
            </a:r>
            <a:r>
              <a:rPr lang="en-US" sz="780" b="1" dirty="0">
                <a:solidFill>
                  <a:srgbClr val="00C2FF"/>
                </a:solidFill>
              </a:rPr>
              <a:t>PARAMETERS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331720" y="3977640"/>
            <a:ext cx="1691640" cy="877824"/>
          </a:xfrm>
          <a:prstGeom prst="rect">
            <a:avLst/>
          </a:prstGeom>
          <a:solidFill>
            <a:srgbClr val="20314D"/>
          </a:solidFill>
          <a:ln>
            <a:solidFill>
              <a:srgbClr val="B5F269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96.44%
</a:t>
            </a:r>
            <a:r>
              <a:rPr lang="en-US" sz="780" b="1" dirty="0">
                <a:solidFill>
                  <a:srgbClr val="B5F269"/>
                </a:solidFill>
              </a:rPr>
              <a:t>TEST ACCURACY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224528" y="3977640"/>
            <a:ext cx="1417320" cy="877824"/>
          </a:xfrm>
          <a:prstGeom prst="rect">
            <a:avLst/>
          </a:prstGeom>
          <a:solidFill>
            <a:srgbClr val="20314D"/>
          </a:solidFill>
          <a:ln>
            <a:solidFill>
              <a:srgbClr val="8B5CF6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~4 fps
</a:t>
            </a:r>
            <a:r>
              <a:rPr lang="en-US" sz="780" b="1" dirty="0">
                <a:solidFill>
                  <a:srgbClr val="8B5CF6"/>
                </a:solidFill>
              </a:rPr>
              <a:t>PIPELINE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5650992"/>
            <a:ext cx="42062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Andreas Demosthenous  &amp;  Marios Olympios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989320"/>
            <a:ext cx="530352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EPL 445 – Digital Video Processing  |  University of Cyprus  |  25 May 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823960" y="1234440"/>
            <a:ext cx="2468880" cy="3794760"/>
          </a:xfrm>
          <a:prstGeom prst="rect">
            <a:avLst/>
          </a:prstGeom>
          <a:solidFill>
            <a:srgbClr val="16243A">
              <a:alpha val="94000"/>
            </a:srgbClr>
          </a:solidFill>
          <a:ln>
            <a:solidFill>
              <a:srgbClr val="00C2FF">
                <a:alpha val="45000"/>
              </a:srgbClr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YOLOv8-nano</a:t>
            </a:r>
            <a:endParaRPr lang="en-US" sz="2700" dirty="0"/>
          </a:p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700" dirty="0"/>
          </a:p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MobileViT-S</a:t>
            </a:r>
            <a:endParaRPr lang="en-US" sz="2700" dirty="0"/>
          </a:p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700" dirty="0"/>
          </a:p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</a:t>
            </a:r>
            <a:endParaRPr lang="en-US" sz="2700" dirty="0"/>
          </a:p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700" dirty="0"/>
          </a:p>
          <a:p>
            <a:pPr marL="0" indent="0" algn="ctr">
              <a:buNone/>
            </a:pPr>
            <a:r>
              <a:rPr lang="en-US" sz="2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2" name="Text 10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1/18</a:t>
            </a:r>
            <a:endParaRPr lang="en-US" sz="660" dirty="0"/>
          </a:p>
        </p:txBody>
      </p:sp>
      <p:sp>
        <p:nvSpPr>
          <p:cNvPr id="13" name="Text 11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From problem to deployable traffic dashboard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2/18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00C2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8" name="Text 6"/>
          <p:cNvSpPr/>
          <p:nvPr/>
        </p:nvSpPr>
        <p:spPr>
          <a:xfrm>
            <a:off x="905256" y="1554480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35608" y="1545336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and motivation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441448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8B5CF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1" name="Text 9"/>
          <p:cNvSpPr/>
          <p:nvPr/>
        </p:nvSpPr>
        <p:spPr>
          <a:xfrm>
            <a:off x="905256" y="2578608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35608" y="2569464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and pre-processing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3465576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00C2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4" name="Text 12"/>
          <p:cNvSpPr/>
          <p:nvPr/>
        </p:nvSpPr>
        <p:spPr>
          <a:xfrm>
            <a:off x="905256" y="3602736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3593592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MobileViT classifier and training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489704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8B5CF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7" name="Text 15"/>
          <p:cNvSpPr/>
          <p:nvPr/>
        </p:nvSpPr>
        <p:spPr>
          <a:xfrm>
            <a:off x="905256" y="4626864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35608" y="4617720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 pipeline: sliding window vs YOLO hybrid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1417320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00C2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0" name="Text 18"/>
          <p:cNvSpPr/>
          <p:nvPr/>
        </p:nvSpPr>
        <p:spPr>
          <a:xfrm>
            <a:off x="6391656" y="1554480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22008" y="1545336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 (SORT) and per-lane counting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63640" y="2441448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8B5CF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3" name="Text 21"/>
          <p:cNvSpPr/>
          <p:nvPr/>
        </p:nvSpPr>
        <p:spPr>
          <a:xfrm>
            <a:off x="6391656" y="2578608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22008" y="2569464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dashboard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465576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00C2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6" name="Text 24"/>
          <p:cNvSpPr/>
          <p:nvPr/>
        </p:nvSpPr>
        <p:spPr>
          <a:xfrm>
            <a:off x="6391656" y="3602736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22008" y="3593592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Quantitative results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63640" y="4489704"/>
            <a:ext cx="4709160" cy="640080"/>
          </a:xfrm>
          <a:prstGeom prst="roundRect">
            <a:avLst>
              <a:gd name="adj" fmla="val 12857"/>
            </a:avLst>
          </a:prstGeom>
          <a:solidFill>
            <a:srgbClr val="16243A"/>
          </a:solidFill>
          <a:ln w="12700">
            <a:solidFill>
              <a:srgbClr val="8B5CF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9" name="Text 27"/>
          <p:cNvSpPr/>
          <p:nvPr/>
        </p:nvSpPr>
        <p:spPr>
          <a:xfrm>
            <a:off x="6391656" y="4626864"/>
            <a:ext cx="38404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22008" y="4617720"/>
            <a:ext cx="3840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demo, discussion, and questions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and Motivation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Live vehicle counts feed digital-twin traffic platforms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3/18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5166360" cy="114300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Scientific question
</a:t>
            </a:r>
            <a:r>
              <a:rPr lang="en-US" sz="1020" dirty="0">
                <a:solidFill>
                  <a:srgbClr val="CBD5E1"/>
                </a:solidFill>
              </a:rPr>
              <a:t>Can a lightweight vision transformer classify traffic patches accurately enough to power a real-time, web-based per-lane counting dashboard on integrated graphics?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166360" cy="1143000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Why MobileViT
</a:t>
            </a:r>
            <a:r>
              <a:rPr lang="en-US" sz="1020" dirty="0">
                <a:solidFill>
                  <a:srgbClr val="CBD5E1"/>
                </a:solidFill>
              </a:rPr>
              <a:t>5.6 M parameters, ImageNet-pretrained, combines convolution with self-attention. Fits in 8 GB shared VRAM where ViT-base does not.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5166360" cy="132588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Why hybrid detection
</a:t>
            </a:r>
            <a:r>
              <a:rPr lang="en-US" sz="1020" dirty="0">
                <a:solidFill>
                  <a:srgbClr val="CBD5E1"/>
                </a:solidFill>
              </a:rPr>
              <a:t>MobileViT outputs class probabilities, not boxes. YOLOv8-nano gives tight proposals, then MobileViT keeps the custom 4-class decision: car, bus, truck, background.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309360" y="2971800"/>
            <a:ext cx="5166360" cy="1325880"/>
          </a:xfrm>
          <a:prstGeom prst="rect">
            <a:avLst/>
          </a:prstGeom>
          <a:solidFill>
            <a:srgbClr val="16243A"/>
          </a:solidFill>
          <a:ln>
            <a:solidFill>
              <a:srgbClr val="3EE7D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3EE7D9"/>
                </a:solidFill>
              </a:rPr>
              <a:t>End-to-end deliverable
</a:t>
            </a:r>
            <a:r>
              <a:rPr lang="en-US" sz="1020" dirty="0">
                <a:solidFill>
                  <a:srgbClr val="CBD5E1"/>
                </a:solidFill>
              </a:rPr>
              <a:t>FastAPI dashboard with video upload, per-lane polygon ROI, density timeline, cross-frame tracking, and live H.264 playback — runs from one uvicorn command.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960120" y="4937760"/>
            <a:ext cx="1907438" cy="74980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Video
</a:t>
            </a:r>
            <a:r>
              <a:rPr lang="en-US" sz="840" dirty="0">
                <a:solidFill>
                  <a:srgbClr val="CBD5E1"/>
                </a:solidFill>
              </a:rPr>
              <a:t>Upload / webcam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3032150" y="4937760"/>
            <a:ext cx="1907438" cy="749808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Detect
</a:t>
            </a:r>
            <a:r>
              <a:rPr lang="en-US" sz="840" dirty="0">
                <a:solidFill>
                  <a:srgbClr val="CBD5E1"/>
                </a:solidFill>
              </a:rPr>
              <a:t>YOLO boxes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5104181" y="4937760"/>
            <a:ext cx="1907438" cy="74980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Classify
</a:t>
            </a:r>
            <a:r>
              <a:rPr lang="en-US" sz="840" dirty="0">
                <a:solidFill>
                  <a:srgbClr val="CBD5E1"/>
                </a:solidFill>
              </a:rPr>
              <a:t>MobileViT crop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7176211" y="4937760"/>
            <a:ext cx="1907438" cy="749808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Track
</a:t>
            </a:r>
            <a:r>
              <a:rPr lang="en-US" sz="840" dirty="0">
                <a:solidFill>
                  <a:srgbClr val="CBD5E1"/>
                </a:solidFill>
              </a:rPr>
              <a:t>SORT IDs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9248242" y="4937760"/>
            <a:ext cx="1907438" cy="74980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Count
</a:t>
            </a:r>
            <a:r>
              <a:rPr lang="en-US" sz="840" dirty="0">
                <a:solidFill>
                  <a:srgbClr val="CBD5E1"/>
                </a:solidFill>
              </a:rPr>
              <a:t>Lane dashboard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and Pre-processing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UA-DETRAC, 4 classes, sequence-disjoint splits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4/18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5897880" cy="4160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Source: UA-DETRAC via Kaggle mirror (~140 K annotated frames, 100 surveillance sequences).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Crops: every box larger than 32×32 px; capped at 5 000 per class; ~475 K total.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Label map: car → car, bus → bus, van/others → truck. Negatives sampled from frame corners.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Pre-processing: resize 256×256, ImageNet normalization, horizontal flip, ±10° rotation, colour jitter.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Splits: 70/15/15 by SEQUENCE ID (MVI_xxxxx) to avoid frame leakage.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Leakage fix: random splits gave ~99%; sequence-level split gives honest 96%+ generalisation.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7452360" y="1325880"/>
            <a:ext cx="274320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distribution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(after balancing)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0" y="2057400"/>
            <a:ext cx="1645920" cy="877824"/>
          </a:xfrm>
          <a:prstGeom prst="rect">
            <a:avLst/>
          </a:prstGeom>
          <a:solidFill>
            <a:srgbClr val="20314D"/>
          </a:solidFill>
          <a:ln>
            <a:solidFill>
              <a:srgbClr val="00C2FF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5 000
</a:t>
            </a:r>
            <a:r>
              <a:rPr lang="en-US" sz="780" b="1" dirty="0">
                <a:solidFill>
                  <a:srgbClr val="00C2FF"/>
                </a:solidFill>
              </a:rPr>
              <a:t>car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281160" y="2057400"/>
            <a:ext cx="1645920" cy="877824"/>
          </a:xfrm>
          <a:prstGeom prst="rect">
            <a:avLst/>
          </a:prstGeom>
          <a:solidFill>
            <a:srgbClr val="20314D"/>
          </a:solidFill>
          <a:ln>
            <a:solidFill>
              <a:srgbClr val="B5F269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~3 200
</a:t>
            </a:r>
            <a:r>
              <a:rPr lang="en-US" sz="780" b="1" dirty="0">
                <a:solidFill>
                  <a:srgbClr val="B5F269"/>
                </a:solidFill>
              </a:rPr>
              <a:t>bus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406640" y="3383280"/>
            <a:ext cx="1645920" cy="877824"/>
          </a:xfrm>
          <a:prstGeom prst="rect">
            <a:avLst/>
          </a:prstGeom>
          <a:solidFill>
            <a:srgbClr val="20314D"/>
          </a:solidFill>
          <a:ln>
            <a:solidFill>
              <a:srgbClr val="8B5CF6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5 000
</a:t>
            </a:r>
            <a:r>
              <a:rPr lang="en-US" sz="780" b="1" dirty="0">
                <a:solidFill>
                  <a:srgbClr val="8B5CF6"/>
                </a:solidFill>
              </a:rPr>
              <a:t>truck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281160" y="3383280"/>
            <a:ext cx="1645920" cy="877824"/>
          </a:xfrm>
          <a:prstGeom prst="rect">
            <a:avLst/>
          </a:prstGeom>
          <a:solidFill>
            <a:srgbClr val="20314D"/>
          </a:solidFill>
          <a:ln>
            <a:solidFill>
              <a:srgbClr val="FBBF24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~2 000
</a:t>
            </a:r>
            <a:r>
              <a:rPr lang="en-US" sz="780" b="1" dirty="0">
                <a:solidFill>
                  <a:srgbClr val="FBBF24"/>
                </a:solidFill>
              </a:rPr>
              <a:t>background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MobileViT-S Architecture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Mehta &amp; Rastegari, ICLR 2022 — light-weight, mobile-friendly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5/18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1722120" cy="100584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Conv stem
</a:t>
            </a:r>
            <a:r>
              <a:rPr lang="en-US" sz="840" dirty="0">
                <a:solidFill>
                  <a:srgbClr val="CBD5E1"/>
                </a:solidFill>
              </a:rPr>
              <a:t>3×3 conv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downsample 128×128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2389632" y="1508760"/>
            <a:ext cx="1722120" cy="100584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MV2 ×3
</a:t>
            </a:r>
            <a:r>
              <a:rPr lang="en-US" sz="840" dirty="0">
                <a:solidFill>
                  <a:srgbClr val="CBD5E1"/>
                </a:solidFill>
              </a:rPr>
              <a:t>Inverted residuals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depthwise conv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4276344" y="1508760"/>
            <a:ext cx="1722120" cy="100584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MViT 1
</a:t>
            </a:r>
            <a:r>
              <a:rPr lang="en-US" sz="840" dirty="0">
                <a:solidFill>
                  <a:srgbClr val="CBD5E1"/>
                </a:solidFill>
              </a:rPr>
              <a:t>Local conv →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patch attention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6163056" y="1508760"/>
            <a:ext cx="1722120" cy="100584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MViT 2
</a:t>
            </a:r>
            <a:r>
              <a:rPr lang="en-US" sz="840" dirty="0">
                <a:solidFill>
                  <a:srgbClr val="CBD5E1"/>
                </a:solidFill>
              </a:rPr>
              <a:t>192 ch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4 transformer layers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8049768" y="1508760"/>
            <a:ext cx="1722120" cy="100584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MViT 3
</a:t>
            </a:r>
            <a:r>
              <a:rPr lang="en-US" sz="840" dirty="0">
                <a:solidFill>
                  <a:srgbClr val="CBD5E1"/>
                </a:solidFill>
              </a:rPr>
              <a:t>240 ch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3 transformer layers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9936480" y="1508760"/>
            <a:ext cx="1722120" cy="100584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Head
</a:t>
            </a:r>
            <a:r>
              <a:rPr lang="en-US" sz="840" dirty="0">
                <a:solidFill>
                  <a:srgbClr val="CBD5E1"/>
                </a:solidFill>
              </a:rPr>
              <a:t>GAP → linear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4 classes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960120" y="3063240"/>
            <a:ext cx="1019556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5.6 M parameters total — roughly 4× smaller than ResNet-50 with similar UA-DETRAC patch accuracy.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Convolutional stages capture local texture such as wheels, windows, and vehicle edges.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Transformer blocks model global context inside each crop.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Pretrained on ImageNet via timm, then fine-tuned for 15 epochs on traffic patches.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Fits in 8 GB shared VRAM on the AMD Radeon 780M iGPU; trains with batch size 4.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 Procedure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Two-phase fine-tuning, AdamW, cosine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6/18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Optimiser
</a:t>
            </a:r>
            <a:r>
              <a:rPr lang="en-US" sz="1020" dirty="0">
                <a:solidFill>
                  <a:srgbClr val="CBD5E1"/>
                </a:solidFill>
              </a:rPr>
              <a:t>AdamW, lr 3e-4, weight decay 1e-4. Cosine annealing over 15 epochs.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217920" y="1325880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Two phases
</a:t>
            </a:r>
            <a:r>
              <a:rPr lang="en-US" sz="1020" dirty="0">
                <a:solidFill>
                  <a:srgbClr val="CBD5E1"/>
                </a:solidFill>
              </a:rPr>
              <a:t>Epochs 1–3: frozen backbone, head trains. Epochs 4–15: backbone unfrozen, lr reduced by 10×.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85800" y="2624328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Loss
</a:t>
            </a:r>
            <a:r>
              <a:rPr lang="en-US" sz="1020" dirty="0">
                <a:solidFill>
                  <a:srgbClr val="CBD5E1"/>
                </a:solidFill>
              </a:rPr>
              <a:t>Class-weighted cross-entropy to compensate for under-represented background and bus samples.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217920" y="2624328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FBBF24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BBF24"/>
                </a:solidFill>
              </a:rPr>
              <a:t>Hardware
</a:t>
            </a:r>
            <a:r>
              <a:rPr lang="en-US" sz="1020" dirty="0">
                <a:solidFill>
                  <a:srgbClr val="CBD5E1"/>
                </a:solidFill>
              </a:rPr>
              <a:t>AMD Radeon 780M iGPU, ROCm 7.2, HSA_OVERRIDE_GFX_VERSION=11.0.0, batch size 4.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85800" y="3922776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3EE7D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3EE7D9"/>
                </a:solidFill>
              </a:rPr>
              <a:t>Selection
</a:t>
            </a:r>
            <a:r>
              <a:rPr lang="en-US" sz="1020" dirty="0">
                <a:solidFill>
                  <a:srgbClr val="CBD5E1"/>
                </a:solidFill>
              </a:rPr>
              <a:t>Early stopping on macro F1, patience 5. Best validation macro F1 = 0.9807 at epoch 13.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Detection Pipeline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Sliding-window baseline → YOLOv8-nano + MobileViT hybrid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7/18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5257800" cy="3977640"/>
          </a:xfrm>
          <a:prstGeom prst="rect">
            <a:avLst/>
          </a:prstGeom>
          <a:solidFill>
            <a:srgbClr val="16243A"/>
          </a:solidFill>
          <a:ln>
            <a:solidFill>
              <a:srgbClr val="FBBF24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BBF24"/>
                </a:solidFill>
              </a:rPr>
              <a:t>Multi-scale sliding window (Interim 2)
</a:t>
            </a:r>
            <a:r>
              <a:rPr lang="en-US" sz="1020" dirty="0">
                <a:solidFill>
                  <a:srgbClr val="CBD5E1"/>
                </a:solidFill>
              </a:rPr>
              <a:t>• Three window sizes: 120, 180, 256 px, 50% stride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Every tile classified by MobileViT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Per-class greedy NMS, IoU = 0.3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~3 fps on 640×360 frames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Many overlapping detections and background tiles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263640" y="1417320"/>
            <a:ext cx="5257800" cy="397764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YOLOv8-nano + MobileViT (Final)
</a:t>
            </a:r>
            <a:r>
              <a:rPr lang="en-US" sz="1020" dirty="0">
                <a:solidFill>
                  <a:srgbClr val="CBD5E1"/>
                </a:solidFill>
              </a:rPr>
              <a:t>• YOLO emits ~one tight box per vehicle (COCO 2/3/5/7)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MobileViT classifies each crop in the 4-class taxonomy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Background-labelled boxes are discarded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~4 fps steady-state on same hardware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Single box per object; far fewer duplicates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BD5E1"/>
                </a:solidFill>
              </a:rPr>
              <a:t>• Same MobileViT backbone reused — no retraining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005840" y="5669280"/>
            <a:ext cx="1898294" cy="47548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Frame
</a:t>
            </a:r>
            <a:r>
              <a:rPr lang="en-US" sz="840" dirty="0">
                <a:solidFill>
                  <a:srgbClr val="CBD5E1"/>
                </a:solidFill>
              </a:rPr>
              <a:t>640×360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3068726" y="5669280"/>
            <a:ext cx="1898294" cy="475488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YOLO
</a:t>
            </a:r>
            <a:r>
              <a:rPr lang="en-US" sz="840" dirty="0">
                <a:solidFill>
                  <a:srgbClr val="CBD5E1"/>
                </a:solidFill>
              </a:rPr>
              <a:t>Proposal boxes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5131613" y="5669280"/>
            <a:ext cx="1898294" cy="47548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Crop
</a:t>
            </a:r>
            <a:r>
              <a:rPr lang="en-US" sz="840" dirty="0">
                <a:solidFill>
                  <a:srgbClr val="CBD5E1"/>
                </a:solidFill>
              </a:rPr>
              <a:t>Vehicle patch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7194499" y="5669280"/>
            <a:ext cx="1898294" cy="475488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MobileViT
</a:t>
            </a:r>
            <a:r>
              <a:rPr lang="en-US" sz="840" dirty="0">
                <a:solidFill>
                  <a:srgbClr val="CBD5E1"/>
                </a:solidFill>
              </a:rPr>
              <a:t>4-class label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9257386" y="5669280"/>
            <a:ext cx="1898294" cy="47548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NMS/SORT
</a:t>
            </a:r>
            <a:r>
              <a:rPr lang="en-US" sz="840" dirty="0">
                <a:solidFill>
                  <a:srgbClr val="CBD5E1"/>
                </a:solidFill>
              </a:rPr>
              <a:t>Clean output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Cross-Frame Tracking (SORT)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Bewley et al., ICIP 2016 — IoU-association tracker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8/18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5074920" cy="114300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Association
</a:t>
            </a:r>
            <a:r>
              <a:rPr lang="en-US" sz="1020" dirty="0">
                <a:solidFill>
                  <a:srgbClr val="CBD5E1"/>
                </a:solidFill>
              </a:rPr>
              <a:t>Per-frame detections match to trackers by IoU. Unmatched detections create new trackers; trackers retire after max_age = 5 frames.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217920" y="1417320"/>
            <a:ext cx="5074920" cy="1143000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Confirmation gating
</a:t>
            </a:r>
            <a:r>
              <a:rPr lang="en-US" sz="1020" dirty="0">
                <a:solidFill>
                  <a:srgbClr val="CBD5E1"/>
                </a:solidFill>
              </a:rPr>
              <a:t>min_hits = 2 before a track is reported, suppressing one-frame false positives.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5074920" cy="114300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CSV instrumentation
</a:t>
            </a:r>
            <a:r>
              <a:rPr lang="en-US" sz="1020" dirty="0">
                <a:solidFill>
                  <a:srgbClr val="CBD5E1"/>
                </a:solidFill>
              </a:rPr>
              <a:t>Each detection row receives a track_id. aggregate_counts emits unique_vehicles_by_class plus raw detection counts.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217920" y="3017520"/>
            <a:ext cx="5074920" cy="1143000"/>
          </a:xfrm>
          <a:prstGeom prst="rect">
            <a:avLst/>
          </a:prstGeom>
          <a:solidFill>
            <a:srgbClr val="16243A"/>
          </a:solidFill>
          <a:ln>
            <a:solidFill>
              <a:srgbClr val="3EE7D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3EE7D9"/>
                </a:solidFill>
              </a:rPr>
              <a:t>Demo impact
</a:t>
            </a:r>
            <a:r>
              <a:rPr lang="en-US" sz="1020" dirty="0">
                <a:solidFill>
                  <a:srgbClr val="CBD5E1"/>
                </a:solidFill>
              </a:rPr>
              <a:t>Raw detections over-count because each vehicle appears in N frames. SORT reveals the unique vehicles needed by the digital twin.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828800" y="5166360"/>
            <a:ext cx="2013966" cy="82296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Detection
</a:t>
            </a:r>
            <a:r>
              <a:rPr lang="en-US" sz="840" dirty="0">
                <a:solidFill>
                  <a:srgbClr val="CBD5E1"/>
                </a:solidFill>
              </a:rPr>
              <a:t>bbox + class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4007358" y="5166360"/>
            <a:ext cx="2013966" cy="82296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IoU match
</a:t>
            </a:r>
            <a:r>
              <a:rPr lang="en-US" sz="840" dirty="0">
                <a:solidFill>
                  <a:srgbClr val="CBD5E1"/>
                </a:solidFill>
              </a:rPr>
              <a:t>existing track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6185916" y="5166360"/>
            <a:ext cx="2013966" cy="82296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Track ID
</a:t>
            </a:r>
            <a:r>
              <a:rPr lang="en-US" sz="840" dirty="0">
                <a:solidFill>
                  <a:srgbClr val="CBD5E1"/>
                </a:solidFill>
              </a:rPr>
              <a:t>stable vehicle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8364474" y="5166360"/>
            <a:ext cx="2013966" cy="82296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Unique count
</a:t>
            </a:r>
            <a:r>
              <a:rPr lang="en-US" sz="840" dirty="0">
                <a:solidFill>
                  <a:srgbClr val="CBD5E1"/>
                </a:solidFill>
              </a:rPr>
              <a:t>per class / lane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Per-Lane Counting and Web Dashboard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Polygon ROIs + FastAPI + vanilla HTML/JS, no build step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9/18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09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5212080" cy="123444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Polygon ROIs
</a:t>
            </a:r>
            <a:r>
              <a:rPr lang="en-US" sz="1020" dirty="0">
                <a:solidFill>
                  <a:srgbClr val="CBD5E1"/>
                </a:solidFill>
              </a:rPr>
              <a:t>Operator draws closed polygons on the first frame. Backend tests detection-centre membership with OpenCV pointPolygonTest. No re-inference required.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263640" y="1417320"/>
            <a:ext cx="5212080" cy="123444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Endpoints
</a:t>
            </a:r>
            <a:r>
              <a:rPr lang="en-US" sz="1020" dirty="0">
                <a:solidFill>
                  <a:srgbClr val="CBD5E1"/>
                </a:solidFill>
              </a:rPr>
              <a:t>POST /jobs, GET /jobs/{id}/counts | /timeline | /video | /frame, POST /jobs/{id}/lanes, POST /jobs/{id}/roi.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5212080" cy="1234440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Frontend
</a:t>
            </a:r>
            <a:r>
              <a:rPr lang="en-US" sz="1020" dirty="0">
                <a:solidFill>
                  <a:srgbClr val="CBD5E1"/>
                </a:solidFill>
              </a:rPr>
              <a:t>Single index.html + app.js + style.css. Chart.js via CDN for bar and line charts. HTML5 canvas for ROI and lane editing.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263640" y="3108960"/>
            <a:ext cx="5212080" cy="1234440"/>
          </a:xfrm>
          <a:prstGeom prst="rect">
            <a:avLst/>
          </a:prstGeom>
          <a:solidFill>
            <a:srgbClr val="16243A"/>
          </a:solidFill>
          <a:ln>
            <a:solidFill>
              <a:srgbClr val="FBBF24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BBF24"/>
                </a:solidFill>
              </a:rPr>
              <a:t>Robustness
</a:t>
            </a:r>
            <a:r>
              <a:rPr lang="en-US" sz="1020" dirty="0">
                <a:solidFill>
                  <a:srgbClr val="CBD5E1"/>
                </a:solidFill>
              </a:rPr>
              <a:t>OpenCV writes mp4v; browsers need H.264. /video lazily re-encodes to libx264/yuv420p/+faststart and the worker pre-warms it after each job.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Dashboard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FastAPI + vanilla HTML/JS, no build step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10/18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10</a:t>
            </a:r>
            <a:endParaRPr lang="en-US" sz="900" dirty="0"/>
          </a:p>
        </p:txBody>
      </p:sp>
      <p:pic>
        <p:nvPicPr>
          <p:cNvPr id="7" name="Image 0" descr="/mnt/data/extracted_media/ppt/media/image1.png"/>
          <p:cNvPicPr>
            <a:picLocks noChangeAspect="1"/>
          </p:cNvPicPr>
          <p:nvPr/>
        </p:nvPicPr>
        <p:blipFill>
          <a:blip r:embed="rId3"/>
          <a:srcRect t="22898" b="22898"/>
          <a:stretch/>
        </p:blipFill>
        <p:spPr>
          <a:xfrm>
            <a:off x="685800" y="1325880"/>
            <a:ext cx="2880360" cy="4434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977640" y="1325880"/>
            <a:ext cx="7269480" cy="621792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Drag-and-drop upload
</a:t>
            </a:r>
            <a:r>
              <a:rPr lang="en-US" sz="1020" dirty="0">
                <a:solidFill>
                  <a:srgbClr val="CBD5E1"/>
                </a:solidFill>
              </a:rPr>
              <a:t>MP4 in, inference starts, progress polls every 3 s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3977640" y="2130552"/>
            <a:ext cx="7269480" cy="621792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Annotated H.264 video
</a:t>
            </a:r>
            <a:r>
              <a:rPr lang="en-US" sz="1020" dirty="0">
                <a:solidFill>
                  <a:srgbClr val="CBD5E1"/>
                </a:solidFill>
              </a:rPr>
              <a:t>Lazily re-encoded from OpenCV mp4v so it plays in-browser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3977640" y="2935224"/>
            <a:ext cx="7269480" cy="621792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Counts and timeline
</a:t>
            </a:r>
            <a:r>
              <a:rPr lang="en-US" sz="1020" dirty="0">
                <a:solidFill>
                  <a:srgbClr val="CBD5E1"/>
                </a:solidFill>
              </a:rPr>
              <a:t>Bar chart + density line chart via Chart.js CDN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3977640" y="3739896"/>
            <a:ext cx="7269480" cy="621792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Rectangle and polygon ROIs
</a:t>
            </a:r>
            <a:r>
              <a:rPr lang="en-US" sz="1020" dirty="0">
                <a:solidFill>
                  <a:srgbClr val="CBD5E1"/>
                </a:solidFill>
              </a:rPr>
              <a:t>Filter detections by region or split into per-lane polygons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977640" y="4544568"/>
            <a:ext cx="7269480" cy="621792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Past jobs table
</a:t>
            </a:r>
            <a:r>
              <a:rPr lang="en-US" sz="1020" dirty="0">
                <a:solidFill>
                  <a:srgbClr val="CBD5E1"/>
                </a:solidFill>
              </a:rPr>
              <a:t>Click to re-open any prior run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— Classification Metrics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Sequence-disjoint test set, 2 614 patches, 16 unseen sequences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11/18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298448"/>
            <a:ext cx="2148840" cy="877824"/>
          </a:xfrm>
          <a:prstGeom prst="rect">
            <a:avLst/>
          </a:prstGeom>
          <a:solidFill>
            <a:srgbClr val="20314D"/>
          </a:solidFill>
          <a:ln>
            <a:solidFill>
              <a:srgbClr val="00C2FF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96.44%
</a:t>
            </a:r>
            <a:r>
              <a:rPr lang="en-US" sz="780" b="1" dirty="0">
                <a:solidFill>
                  <a:srgbClr val="00C2FF"/>
                </a:solidFill>
              </a:rPr>
              <a:t>ACCURACY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474720" y="1298448"/>
            <a:ext cx="2148840" cy="877824"/>
          </a:xfrm>
          <a:prstGeom prst="rect">
            <a:avLst/>
          </a:prstGeom>
          <a:solidFill>
            <a:srgbClr val="20314D"/>
          </a:solidFill>
          <a:ln>
            <a:solidFill>
              <a:srgbClr val="B5F269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95.90%
</a:t>
            </a:r>
            <a:r>
              <a:rPr lang="en-US" sz="780" b="1" dirty="0">
                <a:solidFill>
                  <a:srgbClr val="B5F269"/>
                </a:solidFill>
              </a:rPr>
              <a:t>MACRO F1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263640" y="1298448"/>
            <a:ext cx="2148840" cy="877824"/>
          </a:xfrm>
          <a:prstGeom prst="rect">
            <a:avLst/>
          </a:prstGeom>
          <a:solidFill>
            <a:srgbClr val="20314D"/>
          </a:solidFill>
          <a:ln>
            <a:solidFill>
              <a:srgbClr val="8B5CF6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99.59%
</a:t>
            </a:r>
            <a:r>
              <a:rPr lang="en-US" sz="780" b="1" dirty="0">
                <a:solidFill>
                  <a:srgbClr val="8B5CF6"/>
                </a:solidFill>
              </a:rPr>
              <a:t>MACRO AUC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052560" y="1298448"/>
            <a:ext cx="2148840" cy="877824"/>
          </a:xfrm>
          <a:prstGeom prst="rect">
            <a:avLst/>
          </a:prstGeom>
          <a:solidFill>
            <a:srgbClr val="20314D"/>
          </a:solidFill>
          <a:ln>
            <a:solidFill>
              <a:srgbClr val="FBBF24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0.9807
</a:t>
            </a:r>
            <a:r>
              <a:rPr lang="en-US" sz="780" b="1" dirty="0">
                <a:solidFill>
                  <a:srgbClr val="FBBF24"/>
                </a:solidFill>
              </a:rPr>
              <a:t>VAL F1 (best)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60120" y="2816352"/>
            <a:ext cx="1874520" cy="329184"/>
          </a:xfrm>
          <a:prstGeom prst="rect">
            <a:avLst/>
          </a:prstGeom>
          <a:solidFill>
            <a:srgbClr val="20314D"/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2" name="Text 10"/>
          <p:cNvSpPr/>
          <p:nvPr/>
        </p:nvSpPr>
        <p:spPr>
          <a:xfrm>
            <a:off x="1014984" y="289864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17520" y="2816352"/>
            <a:ext cx="1874520" cy="329184"/>
          </a:xfrm>
          <a:prstGeom prst="rect">
            <a:avLst/>
          </a:prstGeom>
          <a:solidFill>
            <a:srgbClr val="20314D"/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4" name="Text 12"/>
          <p:cNvSpPr/>
          <p:nvPr/>
        </p:nvSpPr>
        <p:spPr>
          <a:xfrm>
            <a:off x="3072384" y="289864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0" y="2816352"/>
            <a:ext cx="1874520" cy="329184"/>
          </a:xfrm>
          <a:prstGeom prst="rect">
            <a:avLst/>
          </a:prstGeom>
          <a:solidFill>
            <a:srgbClr val="20314D"/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6" name="Text 14"/>
          <p:cNvSpPr/>
          <p:nvPr/>
        </p:nvSpPr>
        <p:spPr>
          <a:xfrm>
            <a:off x="5129784" y="289864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0" y="2816352"/>
            <a:ext cx="1874520" cy="329184"/>
          </a:xfrm>
          <a:prstGeom prst="rect">
            <a:avLst/>
          </a:prstGeom>
          <a:solidFill>
            <a:srgbClr val="20314D"/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8" name="Text 16"/>
          <p:cNvSpPr/>
          <p:nvPr/>
        </p:nvSpPr>
        <p:spPr>
          <a:xfrm>
            <a:off x="7187184" y="289864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Specificity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89720" y="2816352"/>
            <a:ext cx="1874520" cy="329184"/>
          </a:xfrm>
          <a:prstGeom prst="rect">
            <a:avLst/>
          </a:prstGeom>
          <a:solidFill>
            <a:srgbClr val="20314D"/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0" name="Text 18"/>
          <p:cNvSpPr/>
          <p:nvPr/>
        </p:nvSpPr>
        <p:spPr>
          <a:xfrm>
            <a:off x="9244584" y="289864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0120" y="322783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2" name="Text 20"/>
          <p:cNvSpPr/>
          <p:nvPr/>
        </p:nvSpPr>
        <p:spPr>
          <a:xfrm>
            <a:off x="1014984" y="331012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017520" y="322783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4" name="Text 22"/>
          <p:cNvSpPr/>
          <p:nvPr/>
        </p:nvSpPr>
        <p:spPr>
          <a:xfrm>
            <a:off x="3072384" y="331012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0.960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74920" y="322783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6" name="Text 24"/>
          <p:cNvSpPr/>
          <p:nvPr/>
        </p:nvSpPr>
        <p:spPr>
          <a:xfrm>
            <a:off x="5129784" y="331012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0.929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32320" y="322783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8" name="Text 26"/>
          <p:cNvSpPr/>
          <p:nvPr/>
        </p:nvSpPr>
        <p:spPr>
          <a:xfrm>
            <a:off x="7187184" y="331012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0.992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89720" y="322783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0" name="Text 28"/>
          <p:cNvSpPr/>
          <p:nvPr/>
        </p:nvSpPr>
        <p:spPr>
          <a:xfrm>
            <a:off x="9244584" y="331012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0.944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60120" y="363931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2" name="Text 30"/>
          <p:cNvSpPr/>
          <p:nvPr/>
        </p:nvSpPr>
        <p:spPr>
          <a:xfrm>
            <a:off x="1014984" y="372160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017520" y="363931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4" name="Text 32"/>
          <p:cNvSpPr/>
          <p:nvPr/>
        </p:nvSpPr>
        <p:spPr>
          <a:xfrm>
            <a:off x="3072384" y="372160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0.992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74920" y="363931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6" name="Text 34"/>
          <p:cNvSpPr/>
          <p:nvPr/>
        </p:nvSpPr>
        <p:spPr>
          <a:xfrm>
            <a:off x="5129784" y="372160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0.974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0" y="363931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8" name="Text 36"/>
          <p:cNvSpPr/>
          <p:nvPr/>
        </p:nvSpPr>
        <p:spPr>
          <a:xfrm>
            <a:off x="7187184" y="372160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0.994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189720" y="363931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40" name="Text 38"/>
          <p:cNvSpPr/>
          <p:nvPr/>
        </p:nvSpPr>
        <p:spPr>
          <a:xfrm>
            <a:off x="9244584" y="372160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0.983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60120" y="405079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42" name="Text 40"/>
          <p:cNvSpPr/>
          <p:nvPr/>
        </p:nvSpPr>
        <p:spPr>
          <a:xfrm>
            <a:off x="1014984" y="413308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truck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017520" y="405079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44" name="Text 42"/>
          <p:cNvSpPr/>
          <p:nvPr/>
        </p:nvSpPr>
        <p:spPr>
          <a:xfrm>
            <a:off x="3072384" y="413308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0.937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74920" y="405079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46" name="Text 44"/>
          <p:cNvSpPr/>
          <p:nvPr/>
        </p:nvSpPr>
        <p:spPr>
          <a:xfrm>
            <a:off x="5129784" y="413308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0.963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132320" y="405079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48" name="Text 46"/>
          <p:cNvSpPr/>
          <p:nvPr/>
        </p:nvSpPr>
        <p:spPr>
          <a:xfrm>
            <a:off x="7187184" y="413308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0.977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189720" y="405079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50" name="Text 48"/>
          <p:cNvSpPr/>
          <p:nvPr/>
        </p:nvSpPr>
        <p:spPr>
          <a:xfrm>
            <a:off x="9244584" y="413308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0.950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60120" y="446227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52" name="Text 50"/>
          <p:cNvSpPr/>
          <p:nvPr/>
        </p:nvSpPr>
        <p:spPr>
          <a:xfrm>
            <a:off x="1014984" y="454456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017520" y="446227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54" name="Text 52"/>
          <p:cNvSpPr/>
          <p:nvPr/>
        </p:nvSpPr>
        <p:spPr>
          <a:xfrm>
            <a:off x="3072384" y="454456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0.939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074920" y="446227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56" name="Text 54"/>
          <p:cNvSpPr/>
          <p:nvPr/>
        </p:nvSpPr>
        <p:spPr>
          <a:xfrm>
            <a:off x="5129784" y="454456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0.980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132320" y="446227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58" name="Text 56"/>
          <p:cNvSpPr/>
          <p:nvPr/>
        </p:nvSpPr>
        <p:spPr>
          <a:xfrm>
            <a:off x="7187184" y="454456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0.990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189720" y="4462272"/>
            <a:ext cx="1874520" cy="329184"/>
          </a:xfrm>
          <a:prstGeom prst="rect">
            <a:avLst/>
          </a:prstGeom>
          <a:solidFill>
            <a:srgbClr val="16243A">
              <a:alpha val="92000"/>
            </a:srgbClr>
          </a:solidFill>
          <a:ln w="12700">
            <a:solidFill>
              <a:srgbClr val="07121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60" name="Text 58"/>
          <p:cNvSpPr/>
          <p:nvPr/>
        </p:nvSpPr>
        <p:spPr>
          <a:xfrm>
            <a:off x="9244584" y="4544568"/>
            <a:ext cx="173736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0.959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960120" y="5074920"/>
            <a:ext cx="96926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 is easiest (large, distinctive). Car is hardest — confused with truck at distance.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— Confusion Matrix and ROC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Mistakes concentrate on car ↔ truck; ROC curves crowd the top-left corner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12/18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12</a:t>
            </a:r>
            <a:endParaRPr lang="en-US" sz="900" dirty="0"/>
          </a:p>
        </p:txBody>
      </p:sp>
      <p:pic>
        <p:nvPicPr>
          <p:cNvPr id="7" name="Image 0" descr="/mnt/data/extracted_media/ppt/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34453"/>
            <a:ext cx="5257800" cy="4600575"/>
          </a:xfrm>
          <a:prstGeom prst="rect">
            <a:avLst/>
          </a:prstGeom>
        </p:spPr>
      </p:pic>
      <p:pic>
        <p:nvPicPr>
          <p:cNvPr id="8" name="Image 1" descr="/mnt/data/extracted_media/ppt/media/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34453"/>
            <a:ext cx="5257800" cy="46005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— Training Curves and Density Over Time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Backbone unfreezes at epoch 4; density peaks follow platoon arrivals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13/18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13</a:t>
            </a:r>
            <a:endParaRPr lang="en-US" sz="900" dirty="0"/>
          </a:p>
        </p:txBody>
      </p:sp>
      <p:pic>
        <p:nvPicPr>
          <p:cNvPr id="7" name="Image 0" descr="/mnt/data/extracted_media/ppt/media/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17320"/>
            <a:ext cx="5760720" cy="2057400"/>
          </a:xfrm>
          <a:prstGeom prst="rect">
            <a:avLst/>
          </a:prstGeom>
        </p:spPr>
      </p:pic>
      <p:pic>
        <p:nvPicPr>
          <p:cNvPr id="8" name="Image 1" descr="/mnt/data/extracted_media/ppt/media/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3977640"/>
            <a:ext cx="43891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Speed / Accuracy Benchmark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MobileViT classifier on AMD Radeon 780M (iGPU)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14/18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20314D"/>
          </a:solidFill>
          <a:ln w="12700">
            <a:solidFill>
              <a:srgbClr val="00C2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8" name="Text 6"/>
          <p:cNvSpPr/>
          <p:nvPr/>
        </p:nvSpPr>
        <p:spPr>
          <a:xfrm>
            <a:off x="914400" y="1664208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size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17520" y="1508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20314D"/>
          </a:solidFill>
          <a:ln w="12700">
            <a:solidFill>
              <a:srgbClr val="00C2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0" name="Text 8"/>
          <p:cNvSpPr/>
          <p:nvPr/>
        </p:nvSpPr>
        <p:spPr>
          <a:xfrm>
            <a:off x="3108960" y="1664208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1508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20314D"/>
          </a:solidFill>
          <a:ln w="12700">
            <a:solidFill>
              <a:srgbClr val="00C2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2" name="Text 10"/>
          <p:cNvSpPr/>
          <p:nvPr/>
        </p:nvSpPr>
        <p:spPr>
          <a:xfrm>
            <a:off x="5303520" y="1664208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1508760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20314D"/>
          </a:solidFill>
          <a:ln w="12700">
            <a:solidFill>
              <a:srgbClr val="00C2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4" name="Text 12"/>
          <p:cNvSpPr/>
          <p:nvPr/>
        </p:nvSpPr>
        <p:spPr>
          <a:xfrm>
            <a:off x="7498080" y="1664208"/>
            <a:ext cx="34747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2167128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6" name="Text 14"/>
          <p:cNvSpPr/>
          <p:nvPr/>
        </p:nvSpPr>
        <p:spPr>
          <a:xfrm>
            <a:off x="914400" y="2322576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128×128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167128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8" name="Text 16"/>
          <p:cNvSpPr/>
          <p:nvPr/>
        </p:nvSpPr>
        <p:spPr>
          <a:xfrm>
            <a:off x="3108960" y="2322576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~5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212080" y="2167128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0" name="Text 18"/>
          <p:cNvSpPr/>
          <p:nvPr/>
        </p:nvSpPr>
        <p:spPr>
          <a:xfrm>
            <a:off x="5303520" y="2322576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94.5%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6640" y="2167128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2" name="Text 20"/>
          <p:cNvSpPr/>
          <p:nvPr/>
        </p:nvSpPr>
        <p:spPr>
          <a:xfrm>
            <a:off x="7498080" y="2322576"/>
            <a:ext cx="34747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/ battery-constrained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2825496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4" name="Text 22"/>
          <p:cNvSpPr/>
          <p:nvPr/>
        </p:nvSpPr>
        <p:spPr>
          <a:xfrm>
            <a:off x="914400" y="2980944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192×192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17520" y="2825496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6" name="Text 24"/>
          <p:cNvSpPr/>
          <p:nvPr/>
        </p:nvSpPr>
        <p:spPr>
          <a:xfrm>
            <a:off x="3108960" y="2980944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~7 ms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2825496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28" name="Text 26"/>
          <p:cNvSpPr/>
          <p:nvPr/>
        </p:nvSpPr>
        <p:spPr>
          <a:xfrm>
            <a:off x="5303520" y="2980944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95.8%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406640" y="2825496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0" name="Text 28"/>
          <p:cNvSpPr/>
          <p:nvPr/>
        </p:nvSpPr>
        <p:spPr>
          <a:xfrm>
            <a:off x="7498080" y="2980944"/>
            <a:ext cx="34747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Real-time stream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" y="3483864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2" name="Text 30"/>
          <p:cNvSpPr/>
          <p:nvPr/>
        </p:nvSpPr>
        <p:spPr>
          <a:xfrm>
            <a:off x="914400" y="3639312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256×256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17520" y="3483864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4" name="Text 32"/>
          <p:cNvSpPr/>
          <p:nvPr/>
        </p:nvSpPr>
        <p:spPr>
          <a:xfrm>
            <a:off x="3108960" y="3639312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~13 ms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212080" y="3483864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6" name="Text 34"/>
          <p:cNvSpPr/>
          <p:nvPr/>
        </p:nvSpPr>
        <p:spPr>
          <a:xfrm>
            <a:off x="5303520" y="3639312"/>
            <a:ext cx="16459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96.44%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06640" y="3483864"/>
            <a:ext cx="3657600" cy="502920"/>
          </a:xfrm>
          <a:prstGeom prst="roundRect">
            <a:avLst>
              <a:gd name="adj" fmla="val 9091"/>
            </a:avLst>
          </a:prstGeom>
          <a:solidFill>
            <a:srgbClr val="16243A"/>
          </a:solidFill>
          <a:ln w="12700">
            <a:solidFill>
              <a:srgbClr val="102033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8" name="Text 36"/>
          <p:cNvSpPr/>
          <p:nvPr/>
        </p:nvSpPr>
        <p:spPr>
          <a:xfrm>
            <a:off x="7498080" y="3639312"/>
            <a:ext cx="3474720" cy="1188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(default)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1560" y="4800600"/>
            <a:ext cx="10012680" cy="896112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End-to-end pipeline
</a:t>
            </a:r>
            <a:r>
              <a:rPr lang="en-US" sz="1020" dirty="0">
                <a:solidFill>
                  <a:srgbClr val="CBD5E1"/>
                </a:solidFill>
              </a:rPr>
              <a:t>YOLO + MobileViT + SORT + annotation: ~4 fps on 4K frames downscaled to 640×360 for inference, vs ~3 fps for sliding-window. First-frame YOLO compile adds a one-off ~15 s warmup.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 and Limitations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What worked, and what still fails in dense scenes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15/18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What worked
</a:t>
            </a:r>
            <a:r>
              <a:rPr lang="en-US" sz="1020" dirty="0">
                <a:solidFill>
                  <a:srgbClr val="CBD5E1"/>
                </a:solidFill>
              </a:rPr>
              <a:t>Decoupling detection from classification: YOLO emits high-quality boxes; MobileViT handles the bespoke 4-class decision with the background filter.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217920" y="1325880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Why MobileViT, not ResNet-50
</a:t>
            </a:r>
            <a:r>
              <a:rPr lang="en-US" sz="1020" dirty="0">
                <a:solidFill>
                  <a:srgbClr val="CBD5E1"/>
                </a:solidFill>
              </a:rPr>
              <a:t>Roughly 4× smaller, comparable accuracy on UA-DETRAC, fits in 8 GB shared VRAM. Self-attention helps with partial occlusion.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85800" y="2624328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FBBF24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BBF24"/>
                </a:solidFill>
              </a:rPr>
              <a:t>Limitation: no temporal model
</a:t>
            </a:r>
            <a:r>
              <a:rPr lang="en-US" sz="1020" dirty="0">
                <a:solidFill>
                  <a:srgbClr val="CBD5E1"/>
                </a:solidFill>
              </a:rPr>
              <a:t>SORT only does IoU association. Full mutual occlusion can collapse two tracks into one at dense intersections.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217920" y="2624328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Limitation: motorcycles
</a:t>
            </a:r>
            <a:r>
              <a:rPr lang="en-US" sz="1020" dirty="0">
                <a:solidFill>
                  <a:srgbClr val="CBD5E1"/>
                </a:solidFill>
              </a:rPr>
              <a:t>Our 4 classes do not include motorcycles. YOLO class-3 boxes are usually labelled as car or background by MobileViT.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85800" y="3922776"/>
            <a:ext cx="5074920" cy="932688"/>
          </a:xfrm>
          <a:prstGeom prst="rect">
            <a:avLst/>
          </a:prstGeom>
          <a:solidFill>
            <a:srgbClr val="16243A"/>
          </a:solidFill>
          <a:ln>
            <a:solidFill>
              <a:srgbClr val="3EE7D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3EE7D9"/>
                </a:solidFill>
              </a:rPr>
              <a:t>Limitation: iGPU batch size
</a:t>
            </a:r>
            <a:r>
              <a:rPr lang="en-US" sz="1020" dirty="0">
                <a:solidFill>
                  <a:srgbClr val="CBD5E1"/>
                </a:solidFill>
              </a:rPr>
              <a:t>AMD Radeon 780M with 8 GB shared VRAM forces batch size 4. A discrete GPU would speed training by roughly 3–4×.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Work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Next steps to improve tracking, deployment, and evaluation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16/18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154680" cy="1243584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0C2FF"/>
                </a:solidFill>
              </a:rPr>
              <a:t>ByteTrack
</a:t>
            </a:r>
            <a:r>
              <a:rPr lang="en-US" sz="1020" dirty="0">
                <a:solidFill>
                  <a:srgbClr val="CBD5E1"/>
                </a:solidFill>
              </a:rPr>
              <a:t>Stronger association for longer occlusions, with re-identification embedding.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4663440" y="1508760"/>
            <a:ext cx="3154680" cy="1243584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8B5CF6"/>
                </a:solidFill>
              </a:rPr>
              <a:t>Motion-guided sliding
</a:t>
            </a:r>
            <a:r>
              <a:rPr lang="en-US" sz="1020" dirty="0">
                <a:solidFill>
                  <a:srgbClr val="CBD5E1"/>
                </a:solidFill>
              </a:rPr>
              <a:t>Restrict fallback sliding window to motion masks from frame differencing.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8366760" y="1508760"/>
            <a:ext cx="3154680" cy="1243584"/>
          </a:xfrm>
          <a:prstGeom prst="rect">
            <a:avLst/>
          </a:prstGeom>
          <a:solidFill>
            <a:srgbClr val="16243A"/>
          </a:solidFill>
          <a:ln>
            <a:solidFill>
              <a:srgbClr val="B5F26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B5F269"/>
                </a:solidFill>
              </a:rPr>
              <a:t>End-to-end YOLO comparison
</a:t>
            </a:r>
            <a:r>
              <a:rPr lang="en-US" sz="1020" dirty="0">
                <a:solidFill>
                  <a:srgbClr val="CBD5E1"/>
                </a:solidFill>
              </a:rPr>
              <a:t>Fine-tune YOLOv8 on UA-DETRAC for apples-to-apples speed/accuracy.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960120" y="3383280"/>
            <a:ext cx="3154680" cy="1243584"/>
          </a:xfrm>
          <a:prstGeom prst="rect">
            <a:avLst/>
          </a:prstGeom>
          <a:solidFill>
            <a:srgbClr val="16243A"/>
          </a:solidFill>
          <a:ln>
            <a:solidFill>
              <a:srgbClr val="FBBF24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BBF24"/>
                </a:solidFill>
              </a:rPr>
              <a:t>INT8 quantisation
</a:t>
            </a:r>
            <a:r>
              <a:rPr lang="en-US" sz="1020" dirty="0">
                <a:solidFill>
                  <a:srgbClr val="CBD5E1"/>
                </a:solidFill>
              </a:rPr>
              <a:t>ONNX export + INT8 for Jetson Nano-class edge deployment.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4663440" y="3383280"/>
            <a:ext cx="3154680" cy="1243584"/>
          </a:xfrm>
          <a:prstGeom prst="rect">
            <a:avLst/>
          </a:prstGeom>
          <a:solidFill>
            <a:srgbClr val="16243A"/>
          </a:solidFill>
          <a:ln>
            <a:solidFill>
              <a:srgbClr val="3EE7D9">
                <a:alpha val="55000"/>
              </a:srgbClr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3EE7D9"/>
                </a:solidFill>
              </a:rPr>
              <a:t>Temporal voting
</a:t>
            </a:r>
            <a:r>
              <a:rPr lang="en-US" sz="1020" dirty="0">
                <a:solidFill>
                  <a:srgbClr val="CBD5E1"/>
                </a:solidFill>
              </a:rPr>
              <a:t>Aggregate MobileViT predictions across short tracker windows for stable labels.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6926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uvicorn src.app.main:app  →  http://localhost:8000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17/18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2017166" cy="128016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1
</a:t>
            </a:r>
            <a:r>
              <a:rPr lang="en-US" sz="840" dirty="0">
                <a:solidFill>
                  <a:srgbClr val="CBD5E1"/>
                </a:solidFill>
              </a:rPr>
              <a:t>Upload sample_traffic.mp4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or stream from webcam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2913278" y="1828800"/>
            <a:ext cx="2017166" cy="128016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2
</a:t>
            </a:r>
            <a:r>
              <a:rPr lang="en-US" sz="840" dirty="0">
                <a:solidFill>
                  <a:srgbClr val="CBD5E1"/>
                </a:solidFill>
              </a:rPr>
              <a:t>Watch progress and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annotated H.264 video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5095037" y="1828800"/>
            <a:ext cx="2017166" cy="128016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3
</a:t>
            </a:r>
            <a:r>
              <a:rPr lang="en-US" sz="840" dirty="0">
                <a:solidFill>
                  <a:srgbClr val="CBD5E1"/>
                </a:solidFill>
              </a:rPr>
              <a:t>Inspect bar chart +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density timeline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7276795" y="1828800"/>
            <a:ext cx="2017166" cy="1280160"/>
          </a:xfrm>
          <a:prstGeom prst="rect">
            <a:avLst/>
          </a:prstGeom>
          <a:solidFill>
            <a:srgbClr val="16243A"/>
          </a:solidFill>
          <a:ln>
            <a:solidFill>
              <a:srgbClr val="8B5CF6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CF6"/>
                </a:solidFill>
              </a:rPr>
              <a:t>4
</a:t>
            </a:r>
            <a:r>
              <a:rPr lang="en-US" sz="840" dirty="0">
                <a:solidFill>
                  <a:srgbClr val="CBD5E1"/>
                </a:solidFill>
              </a:rPr>
              <a:t>Draw two polygon lanes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for per-lane counts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9458554" y="1828800"/>
            <a:ext cx="2017166" cy="1280160"/>
          </a:xfrm>
          <a:prstGeom prst="rect">
            <a:avLst/>
          </a:prstGeom>
          <a:solidFill>
            <a:srgbClr val="16243A"/>
          </a:solidFill>
          <a:ln>
            <a:solidFill>
              <a:srgbClr val="00C2FF">
                <a:alpha val="6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0C2FF"/>
                </a:solidFill>
              </a:rPr>
              <a:t>5
</a:t>
            </a:r>
            <a:r>
              <a:rPr lang="en-US" sz="840" dirty="0">
                <a:solidFill>
                  <a:srgbClr val="CBD5E1"/>
                </a:solidFill>
              </a:rPr>
              <a:t>Toggle sliding-window</a:t>
            </a:r>
            <a:endParaRPr lang="en-US" sz="840" dirty="0"/>
          </a:p>
          <a:p>
            <a:pPr marL="0" indent="0" algn="ctr">
              <a:buNone/>
            </a:pPr>
            <a:r>
              <a:rPr lang="en-US" sz="840" dirty="0">
                <a:solidFill>
                  <a:srgbClr val="CBD5E1"/>
                </a:solidFill>
              </a:rPr>
              <a:t>for speed comparison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1097280" y="4251960"/>
            <a:ext cx="100584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EE7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uvicorn src.app.main:app  →  http://localhost:8000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645920"/>
            <a:ext cx="6858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 — questions?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53035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3EE7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Andreas Demosthenous &amp; Marios Olympios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3310128"/>
            <a:ext cx="50292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{ademos05, molymp01}@ucy.ac.cy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676656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Repository: github.com/AndrewDemsDS/EPL445_MobileViT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006840" y="1783080"/>
            <a:ext cx="2057400" cy="877824"/>
          </a:xfrm>
          <a:prstGeom prst="rect">
            <a:avLst/>
          </a:prstGeom>
          <a:solidFill>
            <a:srgbClr val="20314D"/>
          </a:solidFill>
          <a:ln>
            <a:solidFill>
              <a:srgbClr val="00C2FF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MobileViT-S
</a:t>
            </a:r>
            <a:r>
              <a:rPr lang="en-US" sz="780" b="1" dirty="0">
                <a:solidFill>
                  <a:srgbClr val="00C2FF"/>
                </a:solidFill>
              </a:rPr>
              <a:t>MODEL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006840" y="2971800"/>
            <a:ext cx="2057400" cy="877824"/>
          </a:xfrm>
          <a:prstGeom prst="rect">
            <a:avLst/>
          </a:prstGeom>
          <a:solidFill>
            <a:srgbClr val="20314D"/>
          </a:solidFill>
          <a:ln>
            <a:solidFill>
              <a:srgbClr val="B5F269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FastAPI
</a:t>
            </a:r>
            <a:r>
              <a:rPr lang="en-US" sz="780" b="1" dirty="0">
                <a:solidFill>
                  <a:srgbClr val="B5F269"/>
                </a:solidFill>
              </a:rPr>
              <a:t>DEPLOYMENT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006840" y="4160520"/>
            <a:ext cx="2057400" cy="877824"/>
          </a:xfrm>
          <a:prstGeom prst="rect">
            <a:avLst/>
          </a:prstGeom>
          <a:solidFill>
            <a:srgbClr val="20314D"/>
          </a:solidFill>
          <a:ln>
            <a:solidFill>
              <a:srgbClr val="8B5CF6">
                <a:alpha val="75000"/>
              </a:srgbClr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8FAFC"/>
                </a:solidFill>
              </a:rPr>
              <a:t>SORT
</a:t>
            </a:r>
            <a:r>
              <a:rPr lang="en-US" sz="780" b="1" dirty="0">
                <a:solidFill>
                  <a:srgbClr val="8B5CF6"/>
                </a:solidFill>
              </a:rPr>
              <a:t>TRACKING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02920" y="438912"/>
            <a:ext cx="11064240" cy="0"/>
          </a:xfrm>
          <a:prstGeom prst="line">
            <a:avLst/>
          </a:prstGeom>
          <a:noFill/>
          <a:ln w="12700">
            <a:solidFill>
              <a:srgbClr val="00C2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CY"/>
          </a:p>
        </p:txBody>
      </p:sp>
      <p:sp>
        <p:nvSpPr>
          <p:cNvPr id="10" name="Text 8"/>
          <p:cNvSpPr/>
          <p:nvPr/>
        </p:nvSpPr>
        <p:spPr>
          <a:xfrm>
            <a:off x="502920" y="660196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94A3B8"/>
                </a:solidFill>
              </a:rPr>
              <a:t>EPL 445 – Digital Video Processing  |  University of Cyprus  |  Final Presentation, 25 May 2026  |  Slide 18/18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1283696" y="65196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2FF"/>
                </a:solidFill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2090</Words>
  <Application>Microsoft Office PowerPoint</Application>
  <PresentationFormat>Widescreen</PresentationFormat>
  <Paragraphs>269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Marios Olympios</dc:creator>
  <cp:lastModifiedBy>Marios Olympios</cp:lastModifiedBy>
  <cp:revision>1</cp:revision>
  <dcterms:created xsi:type="dcterms:W3CDTF">2026-05-25T09:30:30Z</dcterms:created>
  <dcterms:modified xsi:type="dcterms:W3CDTF">2026-05-25T09:31:12Z</dcterms:modified>
</cp:coreProperties>
</file>